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ptos Bold" charset="1" panose="020B0004020202020204"/>
      <p:regular r:id="rId24"/>
    </p:embeddedFont>
    <p:embeddedFont>
      <p:font typeface="Aptos" charset="1" panose="020B0004020202020204"/>
      <p:regular r:id="rId25"/>
    </p:embeddedFont>
    <p:embeddedFont>
      <p:font typeface="Calibri (MS) Bold" charset="1" panose="020F07020304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8E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55912" y="0"/>
            <a:ext cx="7041813" cy="10295039"/>
            <a:chOff x="0" y="0"/>
            <a:chExt cx="9389085" cy="13726719"/>
          </a:xfrm>
        </p:grpSpPr>
        <p:sp>
          <p:nvSpPr>
            <p:cNvPr name="Freeform 5" id="5" descr="paddy_seeds.jpg"/>
            <p:cNvSpPr/>
            <p:nvPr/>
          </p:nvSpPr>
          <p:spPr>
            <a:xfrm flipH="false" flipV="false" rot="0">
              <a:off x="0" y="0"/>
              <a:ext cx="938911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389110">
                  <a:moveTo>
                    <a:pt x="0" y="0"/>
                  </a:moveTo>
                  <a:lnTo>
                    <a:pt x="9389110" y="0"/>
                  </a:lnTo>
                  <a:lnTo>
                    <a:pt x="938911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099" t="0" r="-2309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754971"/>
            <a:ext cx="11255912" cy="8785108"/>
            <a:chOff x="0" y="0"/>
            <a:chExt cx="15007882" cy="117134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07844" cy="11713464"/>
            </a:xfrm>
            <a:custGeom>
              <a:avLst/>
              <a:gdLst/>
              <a:ahLst/>
              <a:cxnLst/>
              <a:rect r="r" b="b" t="t" l="l"/>
              <a:pathLst>
                <a:path h="11713464" w="15007844">
                  <a:moveTo>
                    <a:pt x="0" y="1952244"/>
                  </a:moveTo>
                  <a:cubicBezTo>
                    <a:pt x="0" y="874014"/>
                    <a:pt x="874014" y="0"/>
                    <a:pt x="1952244" y="0"/>
                  </a:cubicBezTo>
                  <a:lnTo>
                    <a:pt x="13055600" y="0"/>
                  </a:lnTo>
                  <a:cubicBezTo>
                    <a:pt x="14133830" y="0"/>
                    <a:pt x="15007844" y="874014"/>
                    <a:pt x="15007844" y="1952244"/>
                  </a:cubicBezTo>
                  <a:lnTo>
                    <a:pt x="15007844" y="9761220"/>
                  </a:lnTo>
                  <a:cubicBezTo>
                    <a:pt x="15007844" y="10839450"/>
                    <a:pt x="14133830" y="11713464"/>
                    <a:pt x="13055600" y="11713464"/>
                  </a:cubicBezTo>
                  <a:lnTo>
                    <a:pt x="1952244" y="11713464"/>
                  </a:lnTo>
                  <a:cubicBezTo>
                    <a:pt x="874014" y="11713464"/>
                    <a:pt x="0" y="10839450"/>
                    <a:pt x="0" y="9761220"/>
                  </a:cubicBezTo>
                  <a:close/>
                </a:path>
              </a:pathLst>
            </a:custGeom>
            <a:solidFill>
              <a:srgbClr val="FBFAE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4039" y="1166774"/>
            <a:ext cx="1166774" cy="1166774"/>
            <a:chOff x="0" y="0"/>
            <a:chExt cx="1555699" cy="1555699"/>
          </a:xfrm>
        </p:grpSpPr>
        <p:sp>
          <p:nvSpPr>
            <p:cNvPr name="Freeform 9" id="9" descr="farmhub_logo.png"/>
            <p:cNvSpPr/>
            <p:nvPr/>
          </p:nvSpPr>
          <p:spPr>
            <a:xfrm flipH="false" flipV="false" rot="0">
              <a:off x="0" y="0"/>
              <a:ext cx="1555750" cy="1555750"/>
            </a:xfrm>
            <a:custGeom>
              <a:avLst/>
              <a:gdLst/>
              <a:ahLst/>
              <a:cxnLst/>
              <a:rect r="r" b="b" t="t" l="l"/>
              <a:pathLst>
                <a:path h="1555750" w="1555750">
                  <a:moveTo>
                    <a:pt x="0" y="0"/>
                  </a:moveTo>
                  <a:lnTo>
                    <a:pt x="1555750" y="0"/>
                  </a:lnTo>
                  <a:lnTo>
                    <a:pt x="1555750" y="1555750"/>
                  </a:lnTo>
                  <a:lnTo>
                    <a:pt x="0" y="155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8396" y="2928328"/>
            <a:ext cx="9242736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FARMHUB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9573" y="4301004"/>
            <a:ext cx="8556393" cy="10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A central hub for farming</a:t>
            </a:r>
          </a:p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products and equipment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7024" y="6428651"/>
            <a:ext cx="855639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ANDROID MOBILE APPLICATION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7024" y="7526788"/>
            <a:ext cx="9105462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DHANASHRI  •  2617</a:t>
            </a:r>
          </a:p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JAGRUTI  •  2621</a:t>
            </a:r>
          </a:p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MAGNUS  •  2628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82073" y="9311259"/>
            <a:ext cx="581105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SMARTER ACCESS. SHARED RESOURCES.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Introduction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857" y="2406720"/>
            <a:ext cx="9723168" cy="279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FarmHub is an Android platform that brings agricultural products and equipment rental together in one place. It connects customers with agricultural sellers and equipment owners, while providing role-based access and Firebase-backed data management.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52279" y="2392642"/>
            <a:ext cx="5647020" cy="2146706"/>
            <a:chOff x="0" y="0"/>
            <a:chExt cx="7529360" cy="28622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29322" cy="2862199"/>
            </a:xfrm>
            <a:custGeom>
              <a:avLst/>
              <a:gdLst/>
              <a:ahLst/>
              <a:cxnLst/>
              <a:rect r="r" b="b" t="t" l="l"/>
              <a:pathLst>
                <a:path h="2862199" w="7529322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7052310" y="0"/>
                  </a:lnTo>
                  <a:cubicBezTo>
                    <a:pt x="7315835" y="0"/>
                    <a:pt x="7529322" y="213614"/>
                    <a:pt x="7529322" y="477012"/>
                  </a:cubicBezTo>
                  <a:lnTo>
                    <a:pt x="7529322" y="2385187"/>
                  </a:lnTo>
                  <a:cubicBezTo>
                    <a:pt x="7529322" y="2648712"/>
                    <a:pt x="7315708" y="2862199"/>
                    <a:pt x="7052310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461813" y="2402176"/>
            <a:ext cx="109814" cy="2127647"/>
            <a:chOff x="0" y="0"/>
            <a:chExt cx="146418" cy="28368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09524" y="2681249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3122" y="2694975"/>
            <a:ext cx="413639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One platform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50700" y="3518583"/>
            <a:ext cx="4877629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Browse farm inputs and request equipment rentals without switching between separate services.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452279" y="4863455"/>
            <a:ext cx="5647020" cy="2146706"/>
            <a:chOff x="0" y="0"/>
            <a:chExt cx="7529360" cy="28622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29322" cy="2862199"/>
            </a:xfrm>
            <a:custGeom>
              <a:avLst/>
              <a:gdLst/>
              <a:ahLst/>
              <a:cxnLst/>
              <a:rect r="r" b="b" t="t" l="l"/>
              <a:pathLst>
                <a:path h="2862199" w="7529322">
                  <a:moveTo>
                    <a:pt x="0" y="477012"/>
                  </a:moveTo>
                  <a:cubicBezTo>
                    <a:pt x="0" y="213614"/>
                    <a:pt x="213614" y="0"/>
                    <a:pt x="477012" y="0"/>
                  </a:cubicBezTo>
                  <a:lnTo>
                    <a:pt x="7052310" y="0"/>
                  </a:lnTo>
                  <a:cubicBezTo>
                    <a:pt x="7315835" y="0"/>
                    <a:pt x="7529322" y="213614"/>
                    <a:pt x="7529322" y="477012"/>
                  </a:cubicBezTo>
                  <a:lnTo>
                    <a:pt x="7529322" y="2385187"/>
                  </a:lnTo>
                  <a:cubicBezTo>
                    <a:pt x="7529322" y="2648712"/>
                    <a:pt x="7315708" y="2862199"/>
                    <a:pt x="7052310" y="2862199"/>
                  </a:cubicBezTo>
                  <a:lnTo>
                    <a:pt x="477012" y="2862199"/>
                  </a:lnTo>
                  <a:cubicBezTo>
                    <a:pt x="213614" y="2862326"/>
                    <a:pt x="0" y="2648712"/>
                    <a:pt x="0" y="238518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461813" y="4872990"/>
            <a:ext cx="109814" cy="2127647"/>
            <a:chOff x="0" y="0"/>
            <a:chExt cx="146418" cy="28368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431" cy="2836799"/>
            </a:xfrm>
            <a:custGeom>
              <a:avLst/>
              <a:gdLst/>
              <a:ahLst/>
              <a:cxnLst/>
              <a:rect r="r" b="b" t="t" l="l"/>
              <a:pathLst>
                <a:path h="283679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09524" y="5152063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92BE4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33122" y="5165788"/>
            <a:ext cx="413639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Shared resources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50700" y="5989396"/>
            <a:ext cx="4877629" cy="80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Equipment owners can list machinery that may otherwise remain unused.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452279" y="7334269"/>
            <a:ext cx="5647020" cy="1597638"/>
            <a:chOff x="0" y="0"/>
            <a:chExt cx="7529360" cy="2130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29449" cy="2130298"/>
            </a:xfrm>
            <a:custGeom>
              <a:avLst/>
              <a:gdLst/>
              <a:ahLst/>
              <a:cxnLst/>
              <a:rect r="r" b="b" t="t" l="l"/>
              <a:pathLst>
                <a:path h="2130298" w="7529449">
                  <a:moveTo>
                    <a:pt x="0" y="355092"/>
                  </a:moveTo>
                  <a:cubicBezTo>
                    <a:pt x="0" y="159004"/>
                    <a:pt x="159004" y="0"/>
                    <a:pt x="355092" y="0"/>
                  </a:cubicBezTo>
                  <a:lnTo>
                    <a:pt x="7174357" y="0"/>
                  </a:lnTo>
                  <a:cubicBezTo>
                    <a:pt x="7370445" y="0"/>
                    <a:pt x="7529449" y="159004"/>
                    <a:pt x="7529449" y="355092"/>
                  </a:cubicBezTo>
                  <a:lnTo>
                    <a:pt x="7529449" y="1775206"/>
                  </a:lnTo>
                  <a:cubicBezTo>
                    <a:pt x="7529449" y="1971294"/>
                    <a:pt x="7370445" y="2130298"/>
                    <a:pt x="7174357" y="2130298"/>
                  </a:cubicBezTo>
                  <a:lnTo>
                    <a:pt x="355092" y="2130298"/>
                  </a:lnTo>
                  <a:cubicBezTo>
                    <a:pt x="159004" y="2130171"/>
                    <a:pt x="0" y="1971167"/>
                    <a:pt x="0" y="17752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461813" y="7343794"/>
            <a:ext cx="109814" cy="1578569"/>
            <a:chOff x="0" y="0"/>
            <a:chExt cx="146418" cy="21047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2104771"/>
            </a:xfrm>
            <a:custGeom>
              <a:avLst/>
              <a:gdLst/>
              <a:ahLst/>
              <a:cxnLst/>
              <a:rect r="r" b="b" t="t" l="l"/>
              <a:pathLst>
                <a:path h="210477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809524" y="7622867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33122" y="7636593"/>
            <a:ext cx="413639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Digital workflow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31628" y="8130083"/>
            <a:ext cx="5527672" cy="57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sz="1774" spc="110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Authentication, orders, bookings and inspection records are managed in the app.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1122" y="6291377"/>
            <a:ext cx="8830932" cy="141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Project focus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1122" y="6840445"/>
            <a:ext cx="8693668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Make essential farming resources easier to discover, access and coordinate.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WHY FARMHUB IS NEEDED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8672" y="1010136"/>
            <a:ext cx="163806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&amp; Existing 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19975" y="2392642"/>
            <a:ext cx="5303853" cy="5372491"/>
            <a:chOff x="0" y="0"/>
            <a:chExt cx="7071804" cy="7163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1868" cy="7163308"/>
            </a:xfrm>
            <a:custGeom>
              <a:avLst/>
              <a:gdLst/>
              <a:ahLst/>
              <a:cxnLst/>
              <a:rect r="r" b="b" t="t" l="l"/>
              <a:pathLst>
                <a:path h="7163308" w="7071868">
                  <a:moveTo>
                    <a:pt x="0" y="1178687"/>
                  </a:moveTo>
                  <a:cubicBezTo>
                    <a:pt x="0" y="527685"/>
                    <a:pt x="527685" y="0"/>
                    <a:pt x="1178687" y="0"/>
                  </a:cubicBezTo>
                  <a:lnTo>
                    <a:pt x="5893181" y="0"/>
                  </a:lnTo>
                  <a:cubicBezTo>
                    <a:pt x="6544183" y="0"/>
                    <a:pt x="7071868" y="527685"/>
                    <a:pt x="7071868" y="1178687"/>
                  </a:cubicBezTo>
                  <a:lnTo>
                    <a:pt x="7071868" y="5984621"/>
                  </a:lnTo>
                  <a:cubicBezTo>
                    <a:pt x="7071868" y="6635623"/>
                    <a:pt x="6544183" y="7163308"/>
                    <a:pt x="5893181" y="7163308"/>
                  </a:cubicBezTo>
                  <a:lnTo>
                    <a:pt x="1178687" y="7163308"/>
                  </a:lnTo>
                  <a:cubicBezTo>
                    <a:pt x="527685" y="7163308"/>
                    <a:pt x="0" y="6635623"/>
                    <a:pt x="0" y="598462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9500" y="2402176"/>
            <a:ext cx="109814" cy="5353421"/>
            <a:chOff x="0" y="0"/>
            <a:chExt cx="146418" cy="71378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7137908"/>
            </a:xfrm>
            <a:custGeom>
              <a:avLst/>
              <a:gdLst/>
              <a:ahLst/>
              <a:cxnLst/>
              <a:rect r="r" b="b" t="t" l="l"/>
              <a:pathLst>
                <a:path h="713790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A54B3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77210" y="2681249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A54B37"/>
                </a:solidFill>
                <a:latin typeface="Aptos Bold"/>
                <a:ea typeface="Aptos Bold"/>
                <a:cs typeface="Aptos Bold"/>
                <a:sym typeface="Aptos Bold"/>
              </a:rPr>
              <a:t>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00818" y="2694975"/>
            <a:ext cx="3793226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High equipment 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8396" y="3518583"/>
            <a:ext cx="4534462" cy="402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Many farmers cannot justify purchasing machinery that may be needed only during specific seasons.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10661" y="2392642"/>
            <a:ext cx="5303853" cy="5372491"/>
            <a:chOff x="0" y="0"/>
            <a:chExt cx="7071804" cy="71633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868" cy="7163308"/>
            </a:xfrm>
            <a:custGeom>
              <a:avLst/>
              <a:gdLst/>
              <a:ahLst/>
              <a:cxnLst/>
              <a:rect r="r" b="b" t="t" l="l"/>
              <a:pathLst>
                <a:path h="7163308" w="7071868">
                  <a:moveTo>
                    <a:pt x="0" y="1178687"/>
                  </a:moveTo>
                  <a:cubicBezTo>
                    <a:pt x="0" y="527685"/>
                    <a:pt x="527685" y="0"/>
                    <a:pt x="1178687" y="0"/>
                  </a:cubicBezTo>
                  <a:lnTo>
                    <a:pt x="5893181" y="0"/>
                  </a:lnTo>
                  <a:cubicBezTo>
                    <a:pt x="6544183" y="0"/>
                    <a:pt x="7071868" y="527685"/>
                    <a:pt x="7071868" y="1178687"/>
                  </a:cubicBezTo>
                  <a:lnTo>
                    <a:pt x="7071868" y="5984621"/>
                  </a:lnTo>
                  <a:cubicBezTo>
                    <a:pt x="7071868" y="6635623"/>
                    <a:pt x="6544183" y="7163308"/>
                    <a:pt x="5893181" y="7163308"/>
                  </a:cubicBezTo>
                  <a:lnTo>
                    <a:pt x="1178687" y="7163308"/>
                  </a:lnTo>
                  <a:cubicBezTo>
                    <a:pt x="527685" y="7163308"/>
                    <a:pt x="0" y="6635623"/>
                    <a:pt x="0" y="598462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20196" y="2402176"/>
            <a:ext cx="109814" cy="5353421"/>
            <a:chOff x="0" y="0"/>
            <a:chExt cx="146418" cy="71378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7137908"/>
            </a:xfrm>
            <a:custGeom>
              <a:avLst/>
              <a:gdLst/>
              <a:ahLst/>
              <a:cxnLst/>
              <a:rect r="r" b="b" t="t" l="l"/>
              <a:pathLst>
                <a:path h="713790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DBAD4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867906" y="2681249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DBAD46"/>
                </a:solidFill>
                <a:latin typeface="Aptos Bold"/>
                <a:ea typeface="Aptos Bold"/>
                <a:cs typeface="Aptos Bold"/>
                <a:sym typeface="Aptos Bold"/>
              </a:rPr>
              <a:t>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91504" y="2694975"/>
            <a:ext cx="379321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Underused machinery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09083" y="3518583"/>
            <a:ext cx="4534462" cy="402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Privately owned equipment can remain idle while nearby farmers may need the same resource.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01348" y="2392642"/>
            <a:ext cx="5303853" cy="5372491"/>
            <a:chOff x="0" y="0"/>
            <a:chExt cx="7071804" cy="71633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868" cy="7163308"/>
            </a:xfrm>
            <a:custGeom>
              <a:avLst/>
              <a:gdLst/>
              <a:ahLst/>
              <a:cxnLst/>
              <a:rect r="r" b="b" t="t" l="l"/>
              <a:pathLst>
                <a:path h="7163308" w="7071868">
                  <a:moveTo>
                    <a:pt x="0" y="1178687"/>
                  </a:moveTo>
                  <a:cubicBezTo>
                    <a:pt x="0" y="527685"/>
                    <a:pt x="527685" y="0"/>
                    <a:pt x="1178687" y="0"/>
                  </a:cubicBezTo>
                  <a:lnTo>
                    <a:pt x="5893181" y="0"/>
                  </a:lnTo>
                  <a:cubicBezTo>
                    <a:pt x="6544183" y="0"/>
                    <a:pt x="7071868" y="527685"/>
                    <a:pt x="7071868" y="1178687"/>
                  </a:cubicBezTo>
                  <a:lnTo>
                    <a:pt x="7071868" y="5984621"/>
                  </a:lnTo>
                  <a:cubicBezTo>
                    <a:pt x="7071868" y="6635623"/>
                    <a:pt x="6544183" y="7163308"/>
                    <a:pt x="5893181" y="7163308"/>
                  </a:cubicBezTo>
                  <a:lnTo>
                    <a:pt x="1178687" y="7163308"/>
                  </a:lnTo>
                  <a:cubicBezTo>
                    <a:pt x="527685" y="7163308"/>
                    <a:pt x="0" y="6635623"/>
                    <a:pt x="0" y="598462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0882" y="2402176"/>
            <a:ext cx="109814" cy="5353421"/>
            <a:chOff x="0" y="0"/>
            <a:chExt cx="146418" cy="71378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7137908"/>
            </a:xfrm>
            <a:custGeom>
              <a:avLst/>
              <a:gdLst/>
              <a:ahLst/>
              <a:cxnLst/>
              <a:rect r="r" b="b" t="t" l="l"/>
              <a:pathLst>
                <a:path h="713790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58592" y="2614574"/>
            <a:ext cx="663531" cy="59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＋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82190" y="2694975"/>
            <a:ext cx="379321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Scattered product access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99769" y="3518583"/>
            <a:ext cx="4534462" cy="402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Seeds, fertilizers and crop-care products are often sourced from different sellers and channels.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1122" y="8281759"/>
            <a:ext cx="15968824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Opportunity: connect agricultural product discovery and farmer-to-farmer equipment rental in a single mobile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WHAT THE APPLICATION AIMS TO ACHIEVE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Objectives of FarmHub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40" y="2392642"/>
            <a:ext cx="7774667" cy="1734903"/>
            <a:chOff x="0" y="0"/>
            <a:chExt cx="10366223" cy="2313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66248" cy="2313178"/>
            </a:xfrm>
            <a:custGeom>
              <a:avLst/>
              <a:gdLst/>
              <a:ahLst/>
              <a:cxnLst/>
              <a:rect r="r" b="b" t="t" l="l"/>
              <a:pathLst>
                <a:path h="2313178" w="1036624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980676" y="0"/>
                  </a:lnTo>
                  <a:cubicBezTo>
                    <a:pt x="10193655" y="0"/>
                    <a:pt x="10366248" y="172593"/>
                    <a:pt x="10366248" y="385572"/>
                  </a:cubicBezTo>
                  <a:lnTo>
                    <a:pt x="10366248" y="1927606"/>
                  </a:lnTo>
                  <a:cubicBezTo>
                    <a:pt x="10366248" y="2140585"/>
                    <a:pt x="10193655" y="2313178"/>
                    <a:pt x="9980676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66774" y="2402176"/>
            <a:ext cx="109814" cy="1715843"/>
            <a:chOff x="0" y="0"/>
            <a:chExt cx="146418" cy="2287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14475" y="2681249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8083" y="2694975"/>
            <a:ext cx="626403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Centralize access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5661" y="3518583"/>
            <a:ext cx="700527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Bring agricultural products and equipment discovery into one mobile platform.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30544" y="2392642"/>
            <a:ext cx="7774667" cy="1734903"/>
            <a:chOff x="0" y="0"/>
            <a:chExt cx="10366223" cy="2313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66248" cy="2313178"/>
            </a:xfrm>
            <a:custGeom>
              <a:avLst/>
              <a:gdLst/>
              <a:ahLst/>
              <a:cxnLst/>
              <a:rect r="r" b="b" t="t" l="l"/>
              <a:pathLst>
                <a:path h="2313178" w="1036624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980676" y="0"/>
                  </a:lnTo>
                  <a:cubicBezTo>
                    <a:pt x="10193655" y="0"/>
                    <a:pt x="10366248" y="172593"/>
                    <a:pt x="10366248" y="385572"/>
                  </a:cubicBezTo>
                  <a:lnTo>
                    <a:pt x="10366248" y="1927606"/>
                  </a:lnTo>
                  <a:cubicBezTo>
                    <a:pt x="10366248" y="2140585"/>
                    <a:pt x="10193655" y="2313178"/>
                    <a:pt x="9980676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540069" y="2402176"/>
            <a:ext cx="109814" cy="1715843"/>
            <a:chOff x="0" y="0"/>
            <a:chExt cx="146418" cy="22877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887779" y="2681249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92BE4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11386" y="2694975"/>
            <a:ext cx="626403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Enable equipment sharing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8955" y="3518583"/>
            <a:ext cx="700527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Help customers request rentals from approved equipment owners.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57240" y="4520289"/>
            <a:ext cx="7774667" cy="1734903"/>
            <a:chOff x="0" y="0"/>
            <a:chExt cx="10366223" cy="23132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66248" cy="2313178"/>
            </a:xfrm>
            <a:custGeom>
              <a:avLst/>
              <a:gdLst/>
              <a:ahLst/>
              <a:cxnLst/>
              <a:rect r="r" b="b" t="t" l="l"/>
              <a:pathLst>
                <a:path h="2313178" w="1036624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980676" y="0"/>
                  </a:lnTo>
                  <a:cubicBezTo>
                    <a:pt x="10193655" y="0"/>
                    <a:pt x="10366248" y="172593"/>
                    <a:pt x="10366248" y="385572"/>
                  </a:cubicBezTo>
                  <a:lnTo>
                    <a:pt x="10366248" y="1927606"/>
                  </a:lnTo>
                  <a:cubicBezTo>
                    <a:pt x="10366248" y="2140585"/>
                    <a:pt x="10193655" y="2313178"/>
                    <a:pt x="9980676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66774" y="4529823"/>
            <a:ext cx="109814" cy="1715843"/>
            <a:chOff x="0" y="0"/>
            <a:chExt cx="146418" cy="22877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514475" y="4808896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38083" y="4822622"/>
            <a:ext cx="626403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Supports Cash on Delivery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5661" y="5646220"/>
            <a:ext cx="700527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Manage cart items and place product orders through Cash on Delivery.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30544" y="4520289"/>
            <a:ext cx="7774667" cy="1734903"/>
            <a:chOff x="0" y="0"/>
            <a:chExt cx="10366223" cy="2313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66248" cy="2313178"/>
            </a:xfrm>
            <a:custGeom>
              <a:avLst/>
              <a:gdLst/>
              <a:ahLst/>
              <a:cxnLst/>
              <a:rect r="r" b="b" t="t" l="l"/>
              <a:pathLst>
                <a:path h="2313178" w="1036624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980676" y="0"/>
                  </a:lnTo>
                  <a:cubicBezTo>
                    <a:pt x="10193655" y="0"/>
                    <a:pt x="10366248" y="172593"/>
                    <a:pt x="10366248" y="385572"/>
                  </a:cubicBezTo>
                  <a:lnTo>
                    <a:pt x="10366248" y="1927606"/>
                  </a:lnTo>
                  <a:cubicBezTo>
                    <a:pt x="10366248" y="2140585"/>
                    <a:pt x="10193655" y="2313178"/>
                    <a:pt x="9980676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540069" y="4529823"/>
            <a:ext cx="109814" cy="1715843"/>
            <a:chOff x="0" y="0"/>
            <a:chExt cx="146418" cy="22877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DBAD4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887779" y="4808896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DBAD46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11386" y="4822622"/>
            <a:ext cx="626403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Organize workflows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8955" y="5646220"/>
            <a:ext cx="700527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Track rental requests, owner decisions, agreement acceptance and return inspection.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57240" y="6647926"/>
            <a:ext cx="7774667" cy="1734903"/>
            <a:chOff x="0" y="0"/>
            <a:chExt cx="10366223" cy="23132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66248" cy="2313178"/>
            </a:xfrm>
            <a:custGeom>
              <a:avLst/>
              <a:gdLst/>
              <a:ahLst/>
              <a:cxnLst/>
              <a:rect r="r" b="b" t="t" l="l"/>
              <a:pathLst>
                <a:path h="2313178" w="10366248">
                  <a:moveTo>
                    <a:pt x="0" y="385572"/>
                  </a:moveTo>
                  <a:cubicBezTo>
                    <a:pt x="0" y="172593"/>
                    <a:pt x="172593" y="0"/>
                    <a:pt x="385572" y="0"/>
                  </a:cubicBezTo>
                  <a:lnTo>
                    <a:pt x="9980676" y="0"/>
                  </a:lnTo>
                  <a:cubicBezTo>
                    <a:pt x="10193655" y="0"/>
                    <a:pt x="10366248" y="172593"/>
                    <a:pt x="10366248" y="385572"/>
                  </a:cubicBezTo>
                  <a:lnTo>
                    <a:pt x="10366248" y="1927606"/>
                  </a:lnTo>
                  <a:cubicBezTo>
                    <a:pt x="10366248" y="2140585"/>
                    <a:pt x="10193655" y="2313178"/>
                    <a:pt x="9980676" y="2313178"/>
                  </a:cubicBezTo>
                  <a:lnTo>
                    <a:pt x="385572" y="2313178"/>
                  </a:lnTo>
                  <a:cubicBezTo>
                    <a:pt x="172593" y="2313178"/>
                    <a:pt x="0" y="2140585"/>
                    <a:pt x="0" y="192760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66774" y="6657461"/>
            <a:ext cx="109814" cy="1715843"/>
            <a:chOff x="0" y="0"/>
            <a:chExt cx="146418" cy="22877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A54B37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514475" y="6936534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A54B37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8083" y="6950259"/>
            <a:ext cx="6264031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Control access by role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55661" y="7773867"/>
            <a:ext cx="700527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Provide separate customer, owner and admin navigation.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HOW FARMHUB ADDRESSES 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Proposed Solution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26098" y="3568951"/>
            <a:ext cx="4804353" cy="1990373"/>
            <a:chOff x="0" y="0"/>
            <a:chExt cx="6405804" cy="26538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5880" cy="2653919"/>
            </a:xfrm>
            <a:custGeom>
              <a:avLst/>
              <a:gdLst/>
              <a:ahLst/>
              <a:cxnLst/>
              <a:rect r="r" b="b" t="t" l="l"/>
              <a:pathLst>
                <a:path h="2653919" w="6405880">
                  <a:moveTo>
                    <a:pt x="0" y="442341"/>
                  </a:moveTo>
                  <a:cubicBezTo>
                    <a:pt x="0" y="197993"/>
                    <a:pt x="197993" y="0"/>
                    <a:pt x="442341" y="0"/>
                  </a:cubicBezTo>
                  <a:lnTo>
                    <a:pt x="5963539" y="0"/>
                  </a:lnTo>
                  <a:cubicBezTo>
                    <a:pt x="6207760" y="0"/>
                    <a:pt x="6405880" y="197993"/>
                    <a:pt x="6405880" y="442341"/>
                  </a:cubicBezTo>
                  <a:lnTo>
                    <a:pt x="6405880" y="2211578"/>
                  </a:lnTo>
                  <a:cubicBezTo>
                    <a:pt x="6405880" y="2455799"/>
                    <a:pt x="6207887" y="2653919"/>
                    <a:pt x="5963539" y="2653919"/>
                  </a:cubicBezTo>
                  <a:lnTo>
                    <a:pt x="442341" y="2653919"/>
                  </a:lnTo>
                  <a:cubicBezTo>
                    <a:pt x="197993" y="2653792"/>
                    <a:pt x="0" y="2455799"/>
                    <a:pt x="0" y="2211578"/>
                  </a:cubicBez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114984" y="4067651"/>
            <a:ext cx="4026579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7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FARMHUB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8603" y="2461279"/>
            <a:ext cx="4411618" cy="2009442"/>
            <a:chOff x="0" y="0"/>
            <a:chExt cx="5882157" cy="2679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82132" cy="2679192"/>
            </a:xfrm>
            <a:custGeom>
              <a:avLst/>
              <a:gdLst/>
              <a:ahLst/>
              <a:cxnLst/>
              <a:rect r="r" b="b" t="t" l="l"/>
              <a:pathLst>
                <a:path h="2679192" w="5882132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lnTo>
                    <a:pt x="5435600" y="0"/>
                  </a:lnTo>
                  <a:cubicBezTo>
                    <a:pt x="5682234" y="0"/>
                    <a:pt x="5882132" y="199898"/>
                    <a:pt x="5882132" y="446532"/>
                  </a:cubicBezTo>
                  <a:lnTo>
                    <a:pt x="5882132" y="2232660"/>
                  </a:lnTo>
                  <a:cubicBezTo>
                    <a:pt x="5882132" y="2479294"/>
                    <a:pt x="5682234" y="2679192"/>
                    <a:pt x="5435600" y="2679192"/>
                  </a:cubicBezTo>
                  <a:lnTo>
                    <a:pt x="446532" y="2679192"/>
                  </a:lnTo>
                  <a:cubicBezTo>
                    <a:pt x="199898" y="2679192"/>
                    <a:pt x="0" y="2479294"/>
                    <a:pt x="0" y="223266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8137" y="2470814"/>
            <a:ext cx="109814" cy="1990373"/>
            <a:chOff x="0" y="0"/>
            <a:chExt cx="146418" cy="26538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431" cy="2653792"/>
            </a:xfrm>
            <a:custGeom>
              <a:avLst/>
              <a:gdLst/>
              <a:ahLst/>
              <a:cxnLst/>
              <a:rect r="r" b="b" t="t" l="l"/>
              <a:pathLst>
                <a:path h="265379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87024" y="2763612"/>
            <a:ext cx="368341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CUSTOMERS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7024" y="3587210"/>
            <a:ext cx="3642227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Discover products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and request rentals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756318" y="2461279"/>
            <a:ext cx="4411618" cy="2009442"/>
            <a:chOff x="0" y="0"/>
            <a:chExt cx="5882157" cy="26792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82132" cy="2679192"/>
            </a:xfrm>
            <a:custGeom>
              <a:avLst/>
              <a:gdLst/>
              <a:ahLst/>
              <a:cxnLst/>
              <a:rect r="r" b="b" t="t" l="l"/>
              <a:pathLst>
                <a:path h="2679192" w="5882132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lnTo>
                    <a:pt x="5435600" y="0"/>
                  </a:lnTo>
                  <a:cubicBezTo>
                    <a:pt x="5682234" y="0"/>
                    <a:pt x="5882132" y="199898"/>
                    <a:pt x="5882132" y="446532"/>
                  </a:cubicBezTo>
                  <a:lnTo>
                    <a:pt x="5882132" y="2232660"/>
                  </a:lnTo>
                  <a:cubicBezTo>
                    <a:pt x="5882132" y="2479294"/>
                    <a:pt x="5682234" y="2679192"/>
                    <a:pt x="5435600" y="2679192"/>
                  </a:cubicBezTo>
                  <a:lnTo>
                    <a:pt x="446532" y="2679192"/>
                  </a:lnTo>
                  <a:cubicBezTo>
                    <a:pt x="199898" y="2679192"/>
                    <a:pt x="0" y="2479294"/>
                    <a:pt x="0" y="223266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765853" y="2470814"/>
            <a:ext cx="109814" cy="1990373"/>
            <a:chOff x="0" y="0"/>
            <a:chExt cx="146418" cy="26538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31" cy="2653792"/>
            </a:xfrm>
            <a:custGeom>
              <a:avLst/>
              <a:gdLst/>
              <a:ahLst/>
              <a:cxnLst/>
              <a:rect r="r" b="b" t="t" l="l"/>
              <a:pathLst>
                <a:path h="265379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154739" y="2763612"/>
            <a:ext cx="368341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OWNERS / SELLERS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54739" y="3587210"/>
            <a:ext cx="3642227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List equipment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and farm products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8603" y="6236122"/>
            <a:ext cx="4411618" cy="2009442"/>
            <a:chOff x="0" y="0"/>
            <a:chExt cx="5882157" cy="26792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82132" cy="2679192"/>
            </a:xfrm>
            <a:custGeom>
              <a:avLst/>
              <a:gdLst/>
              <a:ahLst/>
              <a:cxnLst/>
              <a:rect r="r" b="b" t="t" l="l"/>
              <a:pathLst>
                <a:path h="2679192" w="5882132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lnTo>
                    <a:pt x="5435600" y="0"/>
                  </a:lnTo>
                  <a:cubicBezTo>
                    <a:pt x="5682234" y="0"/>
                    <a:pt x="5882132" y="199898"/>
                    <a:pt x="5882132" y="446532"/>
                  </a:cubicBezTo>
                  <a:lnTo>
                    <a:pt x="5882132" y="2232660"/>
                  </a:lnTo>
                  <a:cubicBezTo>
                    <a:pt x="5882132" y="2479294"/>
                    <a:pt x="5682234" y="2679192"/>
                    <a:pt x="5435600" y="2679192"/>
                  </a:cubicBezTo>
                  <a:lnTo>
                    <a:pt x="446532" y="2679192"/>
                  </a:lnTo>
                  <a:cubicBezTo>
                    <a:pt x="199898" y="2679192"/>
                    <a:pt x="0" y="2479294"/>
                    <a:pt x="0" y="223266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98137" y="6245657"/>
            <a:ext cx="109814" cy="1990373"/>
            <a:chOff x="0" y="0"/>
            <a:chExt cx="146418" cy="26538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31" cy="2653792"/>
            </a:xfrm>
            <a:custGeom>
              <a:avLst/>
              <a:gdLst/>
              <a:ahLst/>
              <a:cxnLst/>
              <a:rect r="r" b="b" t="t" l="l"/>
              <a:pathLst>
                <a:path h="265379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87024" y="6538465"/>
            <a:ext cx="368341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FIREBASE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7024" y="7362063"/>
            <a:ext cx="3642227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Authentication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and cloud data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756318" y="6236122"/>
            <a:ext cx="4411618" cy="2009442"/>
            <a:chOff x="0" y="0"/>
            <a:chExt cx="5882157" cy="26792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82132" cy="2679192"/>
            </a:xfrm>
            <a:custGeom>
              <a:avLst/>
              <a:gdLst/>
              <a:ahLst/>
              <a:cxnLst/>
              <a:rect r="r" b="b" t="t" l="l"/>
              <a:pathLst>
                <a:path h="2679192" w="5882132">
                  <a:moveTo>
                    <a:pt x="0" y="446532"/>
                  </a:moveTo>
                  <a:cubicBezTo>
                    <a:pt x="0" y="199898"/>
                    <a:pt x="199898" y="0"/>
                    <a:pt x="446532" y="0"/>
                  </a:cubicBezTo>
                  <a:lnTo>
                    <a:pt x="5435600" y="0"/>
                  </a:lnTo>
                  <a:cubicBezTo>
                    <a:pt x="5682234" y="0"/>
                    <a:pt x="5882132" y="199898"/>
                    <a:pt x="5882132" y="446532"/>
                  </a:cubicBezTo>
                  <a:lnTo>
                    <a:pt x="5882132" y="2232660"/>
                  </a:lnTo>
                  <a:cubicBezTo>
                    <a:pt x="5882132" y="2479294"/>
                    <a:pt x="5682234" y="2679192"/>
                    <a:pt x="5435600" y="2679192"/>
                  </a:cubicBezTo>
                  <a:lnTo>
                    <a:pt x="446532" y="2679192"/>
                  </a:lnTo>
                  <a:cubicBezTo>
                    <a:pt x="199898" y="2679192"/>
                    <a:pt x="0" y="2479294"/>
                    <a:pt x="0" y="223266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765853" y="6245657"/>
            <a:ext cx="109814" cy="1990373"/>
            <a:chOff x="0" y="0"/>
            <a:chExt cx="146418" cy="26538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31" cy="2653792"/>
            </a:xfrm>
            <a:custGeom>
              <a:avLst/>
              <a:gdLst/>
              <a:ahLst/>
              <a:cxnLst/>
              <a:rect r="r" b="b" t="t" l="l"/>
              <a:pathLst>
                <a:path h="2653792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154739" y="6538465"/>
            <a:ext cx="3683413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ADMIN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54739" y="7362063"/>
            <a:ext cx="3642227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Review owner applications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and view commission summary</a:t>
            </a:r>
          </a:p>
        </p:txBody>
      </p:sp>
      <p:sp>
        <p:nvSpPr>
          <p:cNvPr name="AutoShape 36" id="36"/>
          <p:cNvSpPr/>
          <p:nvPr/>
        </p:nvSpPr>
        <p:spPr>
          <a:xfrm rot="2045040">
            <a:off x="5339553" y="3833955"/>
            <a:ext cx="1537687" cy="0"/>
          </a:xfrm>
          <a:prstGeom prst="line">
            <a:avLst/>
          </a:prstGeom>
          <a:ln cap="rnd" w="19050">
            <a:solidFill>
              <a:srgbClr val="92BE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-2045040">
            <a:off x="11379308" y="3833955"/>
            <a:ext cx="1537687" cy="0"/>
          </a:xfrm>
          <a:prstGeom prst="line">
            <a:avLst/>
          </a:prstGeom>
          <a:ln cap="rnd" w="19050">
            <a:solidFill>
              <a:srgbClr val="92BE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-3572580">
            <a:off x="4852159" y="5995921"/>
            <a:ext cx="2512457" cy="0"/>
          </a:xfrm>
          <a:prstGeom prst="line">
            <a:avLst/>
          </a:prstGeom>
          <a:ln cap="rnd" w="19050">
            <a:solidFill>
              <a:srgbClr val="92BE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3572580">
            <a:off x="10891923" y="5995921"/>
            <a:ext cx="2512457" cy="0"/>
          </a:xfrm>
          <a:prstGeom prst="line">
            <a:avLst/>
          </a:prstGeom>
          <a:ln cap="rnd" w="19050">
            <a:solidFill>
              <a:srgbClr val="92BE4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5673671" y="6291377"/>
            <a:ext cx="6909187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One mobile experience for products + rentals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ROLE-BASED NAVIGATION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User Roles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8603" y="2598544"/>
            <a:ext cx="5235216" cy="5235216"/>
            <a:chOff x="0" y="0"/>
            <a:chExt cx="6980288" cy="69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0301" cy="6980301"/>
            </a:xfrm>
            <a:custGeom>
              <a:avLst/>
              <a:gdLst/>
              <a:ahLst/>
              <a:cxnLst/>
              <a:rect r="r" b="b" t="t" l="l"/>
              <a:pathLst>
                <a:path h="6980301" w="6980301">
                  <a:moveTo>
                    <a:pt x="0" y="1163447"/>
                  </a:moveTo>
                  <a:cubicBezTo>
                    <a:pt x="0" y="520827"/>
                    <a:pt x="520827" y="0"/>
                    <a:pt x="1163447" y="0"/>
                  </a:cubicBezTo>
                  <a:lnTo>
                    <a:pt x="5816854" y="0"/>
                  </a:lnTo>
                  <a:cubicBezTo>
                    <a:pt x="6459347" y="0"/>
                    <a:pt x="6980301" y="520827"/>
                    <a:pt x="6980301" y="1163447"/>
                  </a:cubicBezTo>
                  <a:lnTo>
                    <a:pt x="6980301" y="5816854"/>
                  </a:lnTo>
                  <a:cubicBezTo>
                    <a:pt x="6980301" y="6459347"/>
                    <a:pt x="6459474" y="6980301"/>
                    <a:pt x="5816854" y="6980301"/>
                  </a:cubicBezTo>
                  <a:lnTo>
                    <a:pt x="1163447" y="6980301"/>
                  </a:lnTo>
                  <a:cubicBezTo>
                    <a:pt x="520827" y="6980301"/>
                    <a:pt x="0" y="6459474"/>
                    <a:pt x="0" y="581685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137" y="2608078"/>
            <a:ext cx="109814" cy="5216157"/>
            <a:chOff x="0" y="0"/>
            <a:chExt cx="146418" cy="69548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6954901"/>
            </a:xfrm>
            <a:custGeom>
              <a:avLst/>
              <a:gdLst/>
              <a:ahLst/>
              <a:cxnLst/>
              <a:rect r="r" b="b" t="t" l="l"/>
              <a:pathLst>
                <a:path h="695490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45847" y="2887151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69446" y="2900877"/>
            <a:ext cx="37245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Customer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7024" y="3724485"/>
            <a:ext cx="4465834" cy="38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Register / sign in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Browse products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Manage cart and COD orders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Browse equipment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Submit rental requests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View own orders and bookings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79299" y="2598544"/>
            <a:ext cx="5235216" cy="5235216"/>
            <a:chOff x="0" y="0"/>
            <a:chExt cx="6980288" cy="69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80301" cy="6980301"/>
            </a:xfrm>
            <a:custGeom>
              <a:avLst/>
              <a:gdLst/>
              <a:ahLst/>
              <a:cxnLst/>
              <a:rect r="r" b="b" t="t" l="l"/>
              <a:pathLst>
                <a:path h="6980301" w="6980301">
                  <a:moveTo>
                    <a:pt x="0" y="1163447"/>
                  </a:moveTo>
                  <a:cubicBezTo>
                    <a:pt x="0" y="520827"/>
                    <a:pt x="520827" y="0"/>
                    <a:pt x="1163447" y="0"/>
                  </a:cubicBezTo>
                  <a:lnTo>
                    <a:pt x="5816854" y="0"/>
                  </a:lnTo>
                  <a:cubicBezTo>
                    <a:pt x="6459347" y="0"/>
                    <a:pt x="6980301" y="520827"/>
                    <a:pt x="6980301" y="1163447"/>
                  </a:cubicBezTo>
                  <a:lnTo>
                    <a:pt x="6980301" y="5816854"/>
                  </a:lnTo>
                  <a:cubicBezTo>
                    <a:pt x="6980301" y="6459347"/>
                    <a:pt x="6459474" y="6980301"/>
                    <a:pt x="5816854" y="6980301"/>
                  </a:cubicBezTo>
                  <a:lnTo>
                    <a:pt x="1163447" y="6980301"/>
                  </a:lnTo>
                  <a:cubicBezTo>
                    <a:pt x="520827" y="6980301"/>
                    <a:pt x="0" y="6459474"/>
                    <a:pt x="0" y="581685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88824" y="2608078"/>
            <a:ext cx="109814" cy="5216157"/>
            <a:chOff x="0" y="0"/>
            <a:chExt cx="146418" cy="69548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6954901"/>
            </a:xfrm>
            <a:custGeom>
              <a:avLst/>
              <a:gdLst/>
              <a:ahLst/>
              <a:cxnLst/>
              <a:rect r="r" b="b" t="t" l="l"/>
              <a:pathLst>
                <a:path h="695490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36534" y="2887151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92BE4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0141" y="2900877"/>
            <a:ext cx="37245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Equipment Owner / Seller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77720" y="3724485"/>
            <a:ext cx="4465834" cy="38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Apply for owner access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Add and edit equipment listings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Manage product listings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Review rental requests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Approve or reject bookings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Record return inspection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69985" y="2598544"/>
            <a:ext cx="5235216" cy="5235216"/>
            <a:chOff x="0" y="0"/>
            <a:chExt cx="6980288" cy="69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80301" cy="6980301"/>
            </a:xfrm>
            <a:custGeom>
              <a:avLst/>
              <a:gdLst/>
              <a:ahLst/>
              <a:cxnLst/>
              <a:rect r="r" b="b" t="t" l="l"/>
              <a:pathLst>
                <a:path h="6980301" w="6980301">
                  <a:moveTo>
                    <a:pt x="0" y="1163447"/>
                  </a:moveTo>
                  <a:cubicBezTo>
                    <a:pt x="0" y="520827"/>
                    <a:pt x="520827" y="0"/>
                    <a:pt x="1163447" y="0"/>
                  </a:cubicBezTo>
                  <a:lnTo>
                    <a:pt x="5816854" y="0"/>
                  </a:lnTo>
                  <a:cubicBezTo>
                    <a:pt x="6459347" y="0"/>
                    <a:pt x="6980301" y="520827"/>
                    <a:pt x="6980301" y="1163447"/>
                  </a:cubicBezTo>
                  <a:lnTo>
                    <a:pt x="6980301" y="5816854"/>
                  </a:lnTo>
                  <a:cubicBezTo>
                    <a:pt x="6980301" y="6459347"/>
                    <a:pt x="6459474" y="6980301"/>
                    <a:pt x="5816854" y="6980301"/>
                  </a:cubicBezTo>
                  <a:lnTo>
                    <a:pt x="1163447" y="6980301"/>
                  </a:lnTo>
                  <a:cubicBezTo>
                    <a:pt x="520827" y="6980301"/>
                    <a:pt x="0" y="6459474"/>
                    <a:pt x="0" y="581685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079519" y="2608078"/>
            <a:ext cx="109814" cy="5216157"/>
            <a:chOff x="0" y="0"/>
            <a:chExt cx="146418" cy="69548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6954901"/>
            </a:xfrm>
            <a:custGeom>
              <a:avLst/>
              <a:gdLst/>
              <a:ahLst/>
              <a:cxnLst/>
              <a:rect r="r" b="b" t="t" l="l"/>
              <a:pathLst>
                <a:path h="6954901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427229" y="2887151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50828" y="2900877"/>
            <a:ext cx="37245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Administrator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68406" y="3724485"/>
            <a:ext cx="4465834" cy="38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Review pending owner applications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Approve or reject applications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View revenue summary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• Access protected admin screens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SECURE SIGN-IN AND ROLE RESOLUTION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User Authentication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5402" y="2690441"/>
            <a:ext cx="164725" cy="164725"/>
            <a:chOff x="0" y="0"/>
            <a:chExt cx="219634" cy="219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10563" y="2585161"/>
            <a:ext cx="7952422" cy="92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Email and password registration and login using Firebase Authentication.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35402" y="3912118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10563" y="3806838"/>
            <a:ext cx="7952422" cy="92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Sign-out functionality for active sessions.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35402" y="5133794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10563" y="5028524"/>
            <a:ext cx="7952422" cy="92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Registration supports Customer or Owner application selection.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5402" y="6355471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10563" y="6250200"/>
            <a:ext cx="7952422" cy="92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Owner registration creates a pending application for admin review.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5402" y="7577147"/>
            <a:ext cx="164725" cy="164725"/>
            <a:chOff x="0" y="0"/>
            <a:chExt cx="219634" cy="2196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10563" y="7471877"/>
            <a:ext cx="7952422" cy="92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Role checks determine which areas of the app a signed-in user can access.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491416" y="2529916"/>
            <a:ext cx="6470628" cy="5784285"/>
            <a:chOff x="0" y="0"/>
            <a:chExt cx="8627504" cy="77123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27364" cy="7712329"/>
            </a:xfrm>
            <a:custGeom>
              <a:avLst/>
              <a:gdLst/>
              <a:ahLst/>
              <a:cxnLst/>
              <a:rect r="r" b="b" t="t" l="l"/>
              <a:pathLst>
                <a:path h="7712329" w="8627364">
                  <a:moveTo>
                    <a:pt x="0" y="1285367"/>
                  </a:moveTo>
                  <a:cubicBezTo>
                    <a:pt x="0" y="575564"/>
                    <a:pt x="575564" y="0"/>
                    <a:pt x="1285367" y="0"/>
                  </a:cubicBezTo>
                  <a:lnTo>
                    <a:pt x="7341997" y="0"/>
                  </a:lnTo>
                  <a:cubicBezTo>
                    <a:pt x="8051927" y="0"/>
                    <a:pt x="8627364" y="575564"/>
                    <a:pt x="8627364" y="1285367"/>
                  </a:cubicBezTo>
                  <a:lnTo>
                    <a:pt x="8627364" y="6426962"/>
                  </a:lnTo>
                  <a:cubicBezTo>
                    <a:pt x="8627364" y="7136892"/>
                    <a:pt x="8051800" y="7712329"/>
                    <a:pt x="7341997" y="7712329"/>
                  </a:cubicBezTo>
                  <a:lnTo>
                    <a:pt x="1285367" y="7712329"/>
                  </a:lnTo>
                  <a:cubicBezTo>
                    <a:pt x="575564" y="7712329"/>
                    <a:pt x="0" y="7136892"/>
                    <a:pt x="0" y="64269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1095730" y="2996965"/>
            <a:ext cx="5261981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AUTHENTICATION FLOW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324549" y="3843480"/>
            <a:ext cx="4804353" cy="658882"/>
            <a:chOff x="0" y="0"/>
            <a:chExt cx="6405804" cy="8785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5753" cy="878459"/>
            </a:xfrm>
            <a:custGeom>
              <a:avLst/>
              <a:gdLst/>
              <a:ahLst/>
              <a:cxnLst/>
              <a:rect r="r" b="b" t="t" l="l"/>
              <a:pathLst>
                <a:path h="878459" w="64057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259322" y="0"/>
                  </a:lnTo>
                  <a:cubicBezTo>
                    <a:pt x="6340221" y="0"/>
                    <a:pt x="6405753" y="65532"/>
                    <a:pt x="6405753" y="146431"/>
                  </a:cubicBezTo>
                  <a:lnTo>
                    <a:pt x="6405753" y="732028"/>
                  </a:lnTo>
                  <a:cubicBezTo>
                    <a:pt x="6405753" y="812927"/>
                    <a:pt x="6340221" y="878459"/>
                    <a:pt x="6259322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507534" y="3985289"/>
            <a:ext cx="443838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Register / Sign 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60641" y="4534357"/>
            <a:ext cx="73216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324549" y="4831804"/>
            <a:ext cx="4804353" cy="658882"/>
            <a:chOff x="0" y="0"/>
            <a:chExt cx="6405804" cy="8785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405753" cy="878459"/>
            </a:xfrm>
            <a:custGeom>
              <a:avLst/>
              <a:gdLst/>
              <a:ahLst/>
              <a:cxnLst/>
              <a:rect r="r" b="b" t="t" l="l"/>
              <a:pathLst>
                <a:path h="878459" w="64057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259322" y="0"/>
                  </a:lnTo>
                  <a:cubicBezTo>
                    <a:pt x="6340221" y="0"/>
                    <a:pt x="6405753" y="65532"/>
                    <a:pt x="6405753" y="146431"/>
                  </a:cubicBezTo>
                  <a:lnTo>
                    <a:pt x="6405753" y="732028"/>
                  </a:lnTo>
                  <a:cubicBezTo>
                    <a:pt x="6405753" y="812927"/>
                    <a:pt x="6340221" y="878459"/>
                    <a:pt x="6259322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507534" y="4973612"/>
            <a:ext cx="443838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Firebase Authentication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60641" y="5522681"/>
            <a:ext cx="73216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324549" y="5820127"/>
            <a:ext cx="4804353" cy="658882"/>
            <a:chOff x="0" y="0"/>
            <a:chExt cx="6405804" cy="8785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05753" cy="878459"/>
            </a:xfrm>
            <a:custGeom>
              <a:avLst/>
              <a:gdLst/>
              <a:ahLst/>
              <a:cxnLst/>
              <a:rect r="r" b="b" t="t" l="l"/>
              <a:pathLst>
                <a:path h="878459" w="64057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259322" y="0"/>
                  </a:lnTo>
                  <a:cubicBezTo>
                    <a:pt x="6340221" y="0"/>
                    <a:pt x="6405753" y="65532"/>
                    <a:pt x="6405753" y="146431"/>
                  </a:cubicBezTo>
                  <a:lnTo>
                    <a:pt x="6405753" y="732028"/>
                  </a:lnTo>
                  <a:cubicBezTo>
                    <a:pt x="6405753" y="812927"/>
                    <a:pt x="6340221" y="878459"/>
                    <a:pt x="6259322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507534" y="5961936"/>
            <a:ext cx="443838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Resolve account role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60641" y="6511004"/>
            <a:ext cx="73216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324549" y="6808451"/>
            <a:ext cx="4804353" cy="658882"/>
            <a:chOff x="0" y="0"/>
            <a:chExt cx="6405804" cy="8785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05753" cy="878459"/>
            </a:xfrm>
            <a:custGeom>
              <a:avLst/>
              <a:gdLst/>
              <a:ahLst/>
              <a:cxnLst/>
              <a:rect r="r" b="b" t="t" l="l"/>
              <a:pathLst>
                <a:path h="878459" w="6405753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6259322" y="0"/>
                  </a:lnTo>
                  <a:cubicBezTo>
                    <a:pt x="6340221" y="0"/>
                    <a:pt x="6405753" y="65532"/>
                    <a:pt x="6405753" y="146431"/>
                  </a:cubicBezTo>
                  <a:lnTo>
                    <a:pt x="6405753" y="732028"/>
                  </a:lnTo>
                  <a:cubicBezTo>
                    <a:pt x="6405753" y="812927"/>
                    <a:pt x="6340221" y="878459"/>
                    <a:pt x="6259322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1507534" y="6950259"/>
            <a:ext cx="443838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Role-specific home screen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DISCOVER FARMING ESSENTIALS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Agricultural Product Marketplace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667715" y="2333539"/>
            <a:ext cx="5078892" cy="2745343"/>
            <a:chOff x="0" y="0"/>
            <a:chExt cx="6771856" cy="3660458"/>
          </a:xfrm>
        </p:grpSpPr>
        <p:sp>
          <p:nvSpPr>
            <p:cNvPr name="Freeform 10" id="10" descr="wheat_seeds.jpg"/>
            <p:cNvSpPr/>
            <p:nvPr/>
          </p:nvSpPr>
          <p:spPr>
            <a:xfrm flipH="false" flipV="false" rot="0">
              <a:off x="0" y="0"/>
              <a:ext cx="6771894" cy="3660521"/>
            </a:xfrm>
            <a:custGeom>
              <a:avLst/>
              <a:gdLst/>
              <a:ahLst/>
              <a:cxnLst/>
              <a:rect r="r" b="b" t="t" l="l"/>
              <a:pathLst>
                <a:path h="3660521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3660521"/>
                  </a:lnTo>
                  <a:lnTo>
                    <a:pt x="0" y="3660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499" r="0" b="-4249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67715" y="5490686"/>
            <a:ext cx="2333539" cy="2127647"/>
            <a:chOff x="0" y="0"/>
            <a:chExt cx="3111386" cy="2836862"/>
          </a:xfrm>
        </p:grpSpPr>
        <p:sp>
          <p:nvSpPr>
            <p:cNvPr name="Freeform 12" id="12" descr="vermicompost.png"/>
            <p:cNvSpPr/>
            <p:nvPr/>
          </p:nvSpPr>
          <p:spPr>
            <a:xfrm flipH="false" flipV="false" rot="0">
              <a:off x="0" y="0"/>
              <a:ext cx="3111373" cy="2836799"/>
            </a:xfrm>
            <a:custGeom>
              <a:avLst/>
              <a:gdLst/>
              <a:ahLst/>
              <a:cxnLst/>
              <a:rect r="r" b="b" t="t" l="l"/>
              <a:pathLst>
                <a:path h="2836799" w="3111373">
                  <a:moveTo>
                    <a:pt x="0" y="0"/>
                  </a:moveTo>
                  <a:lnTo>
                    <a:pt x="3111373" y="0"/>
                  </a:lnTo>
                  <a:lnTo>
                    <a:pt x="3111373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155" r="0" b="-231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3059" y="5490686"/>
            <a:ext cx="2333539" cy="2127647"/>
            <a:chOff x="0" y="0"/>
            <a:chExt cx="3111386" cy="2836862"/>
          </a:xfrm>
        </p:grpSpPr>
        <p:sp>
          <p:nvSpPr>
            <p:cNvPr name="Freeform 14" id="14" descr="drip_irrigation_tubes.jpg"/>
            <p:cNvSpPr/>
            <p:nvPr/>
          </p:nvSpPr>
          <p:spPr>
            <a:xfrm flipH="false" flipV="false" rot="0">
              <a:off x="0" y="0"/>
              <a:ext cx="3111373" cy="2836799"/>
            </a:xfrm>
            <a:custGeom>
              <a:avLst/>
              <a:gdLst/>
              <a:ahLst/>
              <a:cxnLst/>
              <a:rect r="r" b="b" t="t" l="l"/>
              <a:pathLst>
                <a:path h="2836799" w="3111373">
                  <a:moveTo>
                    <a:pt x="0" y="0"/>
                  </a:moveTo>
                  <a:lnTo>
                    <a:pt x="3111373" y="0"/>
                  </a:lnTo>
                  <a:lnTo>
                    <a:pt x="3111373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155" r="0" b="-2315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5402" y="2690441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10563" y="2585161"/>
            <a:ext cx="8776021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Browse published agricultural products.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5402" y="3994471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10563" y="3889200"/>
            <a:ext cx="8776021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View product details, price, category and seller information.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5402" y="5298519"/>
            <a:ext cx="164725" cy="164725"/>
            <a:chOff x="0" y="0"/>
            <a:chExt cx="219634" cy="2196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10563" y="5193240"/>
            <a:ext cx="8776021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Check listed stock availability.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5402" y="6602559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10563" y="6497279"/>
            <a:ext cx="8776021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Search and filter products by category.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5402" y="7906598"/>
            <a:ext cx="164725" cy="164725"/>
            <a:chOff x="0" y="0"/>
            <a:chExt cx="219634" cy="2196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610563" y="7801318"/>
            <a:ext cx="8776021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Owners / sellers can add and manage their product listings.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76171" y="8066332"/>
            <a:ext cx="5261981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Seeds • Inputs • Irrigation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SIMPLE CHECKOUT WITH COD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Shopping Cart &amp; Product Orders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8603" y="2529916"/>
            <a:ext cx="5029324" cy="4960687"/>
            <a:chOff x="0" y="0"/>
            <a:chExt cx="6705765" cy="6614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05727" cy="6614160"/>
            </a:xfrm>
            <a:custGeom>
              <a:avLst/>
              <a:gdLst/>
              <a:ahLst/>
              <a:cxnLst/>
              <a:rect r="r" b="b" t="t" l="l"/>
              <a:pathLst>
                <a:path h="6614160" w="6705727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5603367" y="0"/>
                  </a:lnTo>
                  <a:cubicBezTo>
                    <a:pt x="6212205" y="0"/>
                    <a:pt x="6705727" y="493522"/>
                    <a:pt x="6705727" y="1102360"/>
                  </a:cubicBezTo>
                  <a:lnTo>
                    <a:pt x="6705727" y="5511800"/>
                  </a:lnTo>
                  <a:cubicBezTo>
                    <a:pt x="6705727" y="6120638"/>
                    <a:pt x="6212205" y="6614160"/>
                    <a:pt x="5603367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137" y="2539441"/>
            <a:ext cx="109814" cy="4941618"/>
            <a:chOff x="0" y="0"/>
            <a:chExt cx="146418" cy="6588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45847" y="2818514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69446" y="2832249"/>
            <a:ext cx="351868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1. Add to cart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7024" y="3655847"/>
            <a:ext cx="4259932" cy="361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Select products and quantities from the marketplace. Cart items can be updated or removed.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47926" y="2529916"/>
            <a:ext cx="5029324" cy="4960687"/>
            <a:chOff x="0" y="0"/>
            <a:chExt cx="6705765" cy="66142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05727" cy="6614160"/>
            </a:xfrm>
            <a:custGeom>
              <a:avLst/>
              <a:gdLst/>
              <a:ahLst/>
              <a:cxnLst/>
              <a:rect r="r" b="b" t="t" l="l"/>
              <a:pathLst>
                <a:path h="6614160" w="6705727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5603367" y="0"/>
                  </a:lnTo>
                  <a:cubicBezTo>
                    <a:pt x="6212205" y="0"/>
                    <a:pt x="6705727" y="493522"/>
                    <a:pt x="6705727" y="1102360"/>
                  </a:cubicBezTo>
                  <a:lnTo>
                    <a:pt x="6705727" y="5511800"/>
                  </a:lnTo>
                  <a:cubicBezTo>
                    <a:pt x="6705727" y="6120638"/>
                    <a:pt x="6212205" y="6614160"/>
                    <a:pt x="5603367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657461" y="2539441"/>
            <a:ext cx="109814" cy="4941618"/>
            <a:chOff x="0" y="0"/>
            <a:chExt cx="146418" cy="65888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005171" y="2818514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92BE4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28769" y="2832249"/>
            <a:ext cx="351868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2. Review order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46347" y="3655847"/>
            <a:ext cx="4259932" cy="361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Check selected items, quantities, total amount and required delivery address.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07250" y="2529916"/>
            <a:ext cx="5029324" cy="4960687"/>
            <a:chOff x="0" y="0"/>
            <a:chExt cx="6705765" cy="66142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05727" cy="6614160"/>
            </a:xfrm>
            <a:custGeom>
              <a:avLst/>
              <a:gdLst/>
              <a:ahLst/>
              <a:cxnLst/>
              <a:rect r="r" b="b" t="t" l="l"/>
              <a:pathLst>
                <a:path h="6614160" w="6705727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5603367" y="0"/>
                  </a:lnTo>
                  <a:cubicBezTo>
                    <a:pt x="6212205" y="0"/>
                    <a:pt x="6705727" y="493522"/>
                    <a:pt x="6705727" y="1102360"/>
                  </a:cubicBezTo>
                  <a:lnTo>
                    <a:pt x="6705727" y="5511800"/>
                  </a:lnTo>
                  <a:cubicBezTo>
                    <a:pt x="6705727" y="6120638"/>
                    <a:pt x="6212205" y="6614160"/>
                    <a:pt x="5603367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216784" y="2539441"/>
            <a:ext cx="109814" cy="4941618"/>
            <a:chOff x="0" y="0"/>
            <a:chExt cx="146418" cy="65888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6588887"/>
            </a:xfrm>
            <a:custGeom>
              <a:avLst/>
              <a:gdLst/>
              <a:ahLst/>
              <a:cxnLst/>
              <a:rect r="r" b="b" t="t" l="l"/>
              <a:pathLst>
                <a:path h="658888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64494" y="2818514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88092" y="2832249"/>
            <a:ext cx="3518687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3. Place COD order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05671" y="3655847"/>
            <a:ext cx="4259932" cy="361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Submit the product order using Cash on Delivery. The order is saved in Firestore.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FIND AND REQUEST MACHINERY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Agricultural Equipment Rental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55912" y="2470814"/>
            <a:ext cx="5490686" cy="2745343"/>
            <a:chOff x="0" y="0"/>
            <a:chExt cx="7320915" cy="3660458"/>
          </a:xfrm>
        </p:grpSpPr>
        <p:sp>
          <p:nvSpPr>
            <p:cNvPr name="Freeform 10" id="10" descr="equipment_tractor.jfif"/>
            <p:cNvSpPr/>
            <p:nvPr/>
          </p:nvSpPr>
          <p:spPr>
            <a:xfrm flipH="false" flipV="false" rot="0">
              <a:off x="0" y="0"/>
              <a:ext cx="7320915" cy="3660521"/>
            </a:xfrm>
            <a:custGeom>
              <a:avLst/>
              <a:gdLst/>
              <a:ahLst/>
              <a:cxnLst/>
              <a:rect r="r" b="b" t="t" l="l"/>
              <a:pathLst>
                <a:path h="3660521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3660521"/>
                  </a:lnTo>
                  <a:lnTo>
                    <a:pt x="0" y="3660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0" r="-1" b="-2499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255912" y="5559323"/>
            <a:ext cx="2608078" cy="2127647"/>
            <a:chOff x="0" y="0"/>
            <a:chExt cx="3477438" cy="2836862"/>
          </a:xfrm>
        </p:grpSpPr>
        <p:sp>
          <p:nvSpPr>
            <p:cNvPr name="Freeform 12" id="12" descr="equipment_power_tiller.jpg"/>
            <p:cNvSpPr/>
            <p:nvPr/>
          </p:nvSpPr>
          <p:spPr>
            <a:xfrm flipH="false" flipV="false" rot="0">
              <a:off x="0" y="0"/>
              <a:ext cx="3477387" cy="2836799"/>
            </a:xfrm>
            <a:custGeom>
              <a:avLst/>
              <a:gdLst/>
              <a:ahLst/>
              <a:cxnLst/>
              <a:rect r="r" b="b" t="t" l="l"/>
              <a:pathLst>
                <a:path h="2836799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85" t="0" r="-4387" b="-2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138529" y="5559323"/>
            <a:ext cx="2608078" cy="2127647"/>
            <a:chOff x="0" y="0"/>
            <a:chExt cx="3477438" cy="2836862"/>
          </a:xfrm>
        </p:grpSpPr>
        <p:sp>
          <p:nvSpPr>
            <p:cNvPr name="Freeform 14" id="14" descr="equipment_knapsack_sprayer.jpg"/>
            <p:cNvSpPr/>
            <p:nvPr/>
          </p:nvSpPr>
          <p:spPr>
            <a:xfrm flipH="false" flipV="false" rot="0">
              <a:off x="0" y="0"/>
              <a:ext cx="3477387" cy="2836799"/>
            </a:xfrm>
            <a:custGeom>
              <a:avLst/>
              <a:gdLst/>
              <a:ahLst/>
              <a:cxnLst/>
              <a:rect r="r" b="b" t="t" l="l"/>
              <a:pathLst>
                <a:path h="2836799" w="3477387">
                  <a:moveTo>
                    <a:pt x="0" y="0"/>
                  </a:moveTo>
                  <a:lnTo>
                    <a:pt x="3477387" y="0"/>
                  </a:lnTo>
                  <a:lnTo>
                    <a:pt x="3477387" y="2836799"/>
                  </a:lnTo>
                  <a:lnTo>
                    <a:pt x="0" y="283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962" r="-1" b="-5896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5402" y="2690441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10563" y="2585161"/>
            <a:ext cx="8501491" cy="9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Browse published equipment listings.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5402" y="3967020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10563" y="3861749"/>
            <a:ext cx="8501491" cy="9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View equipment details, rental price and location.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5402" y="5243608"/>
            <a:ext cx="164725" cy="164725"/>
            <a:chOff x="0" y="0"/>
            <a:chExt cx="219634" cy="2196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10563" y="5138337"/>
            <a:ext cx="8501491" cy="9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Select a rental date and submit a booking request.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5402" y="6520196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10563" y="6414916"/>
            <a:ext cx="8501491" cy="9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Booking requests begin with Pending status.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5402" y="7796774"/>
            <a:ext cx="164725" cy="164725"/>
            <a:chOff x="0" y="0"/>
            <a:chExt cx="219634" cy="2196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610563" y="7691504"/>
            <a:ext cx="8501491" cy="9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Customers can view the status of their rental requests.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01632" y="8066332"/>
            <a:ext cx="5399246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Tractors • Tillers • Sprayers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TOOLS FOR APPROVED OWNERS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Owner &amp; Seller Management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40" y="2461279"/>
            <a:ext cx="5166589" cy="5372491"/>
            <a:chOff x="0" y="0"/>
            <a:chExt cx="6888785" cy="7163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8861" cy="7163308"/>
            </a:xfrm>
            <a:custGeom>
              <a:avLst/>
              <a:gdLst/>
              <a:ahLst/>
              <a:cxnLst/>
              <a:rect r="r" b="b" t="t" l="l"/>
              <a:pathLst>
                <a:path h="7163308" w="6888861">
                  <a:moveTo>
                    <a:pt x="0" y="1148207"/>
                  </a:moveTo>
                  <a:cubicBezTo>
                    <a:pt x="0" y="514096"/>
                    <a:pt x="514096" y="0"/>
                    <a:pt x="1148207" y="0"/>
                  </a:cubicBezTo>
                  <a:lnTo>
                    <a:pt x="5740654" y="0"/>
                  </a:lnTo>
                  <a:cubicBezTo>
                    <a:pt x="6374765" y="0"/>
                    <a:pt x="6888861" y="514096"/>
                    <a:pt x="6888861" y="1148207"/>
                  </a:cubicBezTo>
                  <a:lnTo>
                    <a:pt x="6888861" y="6015101"/>
                  </a:lnTo>
                  <a:cubicBezTo>
                    <a:pt x="6888861" y="6649212"/>
                    <a:pt x="6374765" y="7163308"/>
                    <a:pt x="5740654" y="7163308"/>
                  </a:cubicBezTo>
                  <a:lnTo>
                    <a:pt x="1148207" y="7163308"/>
                  </a:lnTo>
                  <a:cubicBezTo>
                    <a:pt x="514096" y="7163308"/>
                    <a:pt x="0" y="6649212"/>
                    <a:pt x="0" y="6015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66774" y="2470814"/>
            <a:ext cx="109814" cy="5353421"/>
            <a:chOff x="0" y="0"/>
            <a:chExt cx="146418" cy="71378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7137908"/>
            </a:xfrm>
            <a:custGeom>
              <a:avLst/>
              <a:gdLst/>
              <a:ahLst/>
              <a:cxnLst/>
              <a:rect r="r" b="b" t="t" l="l"/>
              <a:pathLst>
                <a:path h="713790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14475" y="2749887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8083" y="2763612"/>
            <a:ext cx="365595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Equipment listings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5661" y="3587210"/>
            <a:ext cx="4397197" cy="402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Add equipment, edit listing details, manage availability and view owner equipment.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79299" y="2461279"/>
            <a:ext cx="5166589" cy="5372491"/>
            <a:chOff x="0" y="0"/>
            <a:chExt cx="6888785" cy="71633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8861" cy="7163308"/>
            </a:xfrm>
            <a:custGeom>
              <a:avLst/>
              <a:gdLst/>
              <a:ahLst/>
              <a:cxnLst/>
              <a:rect r="r" b="b" t="t" l="l"/>
              <a:pathLst>
                <a:path h="7163308" w="6888861">
                  <a:moveTo>
                    <a:pt x="0" y="1148207"/>
                  </a:moveTo>
                  <a:cubicBezTo>
                    <a:pt x="0" y="514096"/>
                    <a:pt x="514096" y="0"/>
                    <a:pt x="1148207" y="0"/>
                  </a:cubicBezTo>
                  <a:lnTo>
                    <a:pt x="5740654" y="0"/>
                  </a:lnTo>
                  <a:cubicBezTo>
                    <a:pt x="6374765" y="0"/>
                    <a:pt x="6888861" y="514096"/>
                    <a:pt x="6888861" y="1148207"/>
                  </a:cubicBezTo>
                  <a:lnTo>
                    <a:pt x="6888861" y="6015101"/>
                  </a:lnTo>
                  <a:cubicBezTo>
                    <a:pt x="6888861" y="6649212"/>
                    <a:pt x="6374765" y="7163308"/>
                    <a:pt x="5740654" y="7163308"/>
                  </a:cubicBezTo>
                  <a:lnTo>
                    <a:pt x="1148207" y="7163308"/>
                  </a:lnTo>
                  <a:cubicBezTo>
                    <a:pt x="514096" y="7163308"/>
                    <a:pt x="0" y="6649212"/>
                    <a:pt x="0" y="6015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88824" y="2470814"/>
            <a:ext cx="109814" cy="5353421"/>
            <a:chOff x="0" y="0"/>
            <a:chExt cx="146418" cy="71378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7137908"/>
            </a:xfrm>
            <a:custGeom>
              <a:avLst/>
              <a:gdLst/>
              <a:ahLst/>
              <a:cxnLst/>
              <a:rect r="r" b="b" t="t" l="l"/>
              <a:pathLst>
                <a:path h="713790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36534" y="2749887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92BE4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0141" y="2763612"/>
            <a:ext cx="365595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Booking management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77720" y="3587210"/>
            <a:ext cx="4397197" cy="402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Review incoming rental requests and approve or reject pending bookings.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01348" y="2461279"/>
            <a:ext cx="5166589" cy="5372491"/>
            <a:chOff x="0" y="0"/>
            <a:chExt cx="6888785" cy="71633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88861" cy="7163308"/>
            </a:xfrm>
            <a:custGeom>
              <a:avLst/>
              <a:gdLst/>
              <a:ahLst/>
              <a:cxnLst/>
              <a:rect r="r" b="b" t="t" l="l"/>
              <a:pathLst>
                <a:path h="7163308" w="6888861">
                  <a:moveTo>
                    <a:pt x="0" y="1148207"/>
                  </a:moveTo>
                  <a:cubicBezTo>
                    <a:pt x="0" y="514096"/>
                    <a:pt x="514096" y="0"/>
                    <a:pt x="1148207" y="0"/>
                  </a:cubicBezTo>
                  <a:lnTo>
                    <a:pt x="5740654" y="0"/>
                  </a:lnTo>
                  <a:cubicBezTo>
                    <a:pt x="6374765" y="0"/>
                    <a:pt x="6888861" y="514096"/>
                    <a:pt x="6888861" y="1148207"/>
                  </a:cubicBezTo>
                  <a:lnTo>
                    <a:pt x="6888861" y="6015101"/>
                  </a:lnTo>
                  <a:cubicBezTo>
                    <a:pt x="6888861" y="6649212"/>
                    <a:pt x="6374765" y="7163308"/>
                    <a:pt x="5740654" y="7163308"/>
                  </a:cubicBezTo>
                  <a:lnTo>
                    <a:pt x="1148207" y="7163308"/>
                  </a:lnTo>
                  <a:cubicBezTo>
                    <a:pt x="514096" y="7163308"/>
                    <a:pt x="0" y="6649212"/>
                    <a:pt x="0" y="601510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0882" y="2470814"/>
            <a:ext cx="109814" cy="5353421"/>
            <a:chOff x="0" y="0"/>
            <a:chExt cx="146418" cy="71378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7137908"/>
            </a:xfrm>
            <a:custGeom>
              <a:avLst/>
              <a:gdLst/>
              <a:ahLst/>
              <a:cxnLst/>
              <a:rect r="r" b="b" t="t" l="l"/>
              <a:pathLst>
                <a:path h="713790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7137908"/>
                  </a:lnTo>
                  <a:lnTo>
                    <a:pt x="0" y="7137908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58592" y="2749887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82190" y="2763612"/>
            <a:ext cx="365595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Product management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99769" y="3587210"/>
            <a:ext cx="4397197" cy="402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Add agricultural products and manage the seller's existing product listings.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OWNER APPLICATION REVIEW AND REVENUE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Admin Module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955" y="9791690"/>
            <a:ext cx="6085589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FARMHUB  •  ANDROID APPLICATION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57240" y="2392642"/>
            <a:ext cx="9970941" cy="6264726"/>
            <a:chOff x="0" y="0"/>
            <a:chExt cx="13294589" cy="83529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94615" cy="8352917"/>
            </a:xfrm>
            <a:custGeom>
              <a:avLst/>
              <a:gdLst/>
              <a:ahLst/>
              <a:cxnLst/>
              <a:rect r="r" b="b" t="t" l="l"/>
              <a:pathLst>
                <a:path h="8352917" w="13294615">
                  <a:moveTo>
                    <a:pt x="0" y="1392174"/>
                  </a:moveTo>
                  <a:cubicBezTo>
                    <a:pt x="0" y="623316"/>
                    <a:pt x="623316" y="0"/>
                    <a:pt x="1392174" y="0"/>
                  </a:cubicBezTo>
                  <a:lnTo>
                    <a:pt x="11902440" y="0"/>
                  </a:lnTo>
                  <a:cubicBezTo>
                    <a:pt x="12671298" y="0"/>
                    <a:pt x="13294615" y="623316"/>
                    <a:pt x="13294615" y="1392174"/>
                  </a:cubicBezTo>
                  <a:lnTo>
                    <a:pt x="13294615" y="6960743"/>
                  </a:lnTo>
                  <a:cubicBezTo>
                    <a:pt x="13294615" y="7729601"/>
                    <a:pt x="12671298" y="8352917"/>
                    <a:pt x="11902440" y="8352917"/>
                  </a:cubicBezTo>
                  <a:lnTo>
                    <a:pt x="1392174" y="8352917"/>
                  </a:lnTo>
                  <a:cubicBezTo>
                    <a:pt x="623316" y="8352917"/>
                    <a:pt x="0" y="7729601"/>
                    <a:pt x="0" y="696074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92926" y="2791063"/>
            <a:ext cx="8693668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OWNER APPLICATION REVIEW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15843" y="3788578"/>
            <a:ext cx="164725" cy="164725"/>
            <a:chOff x="0" y="0"/>
            <a:chExt cx="219634" cy="2196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091004" y="3683298"/>
            <a:ext cx="8295589" cy="74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Admin access is verified using an active admin record.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15843" y="4835242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091004" y="4729963"/>
            <a:ext cx="8295589" cy="74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Pending owner applications are listed for review.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15843" y="5881897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091004" y="5776627"/>
            <a:ext cx="8295589" cy="74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Admin can approve or reject an application.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15843" y="6928561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091004" y="6823291"/>
            <a:ext cx="8295589" cy="74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Approval creates an owner approval record used by role checks.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599078" y="2402176"/>
            <a:ext cx="5422059" cy="6245657"/>
            <a:chOff x="0" y="0"/>
            <a:chExt cx="7229412" cy="83275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29475" cy="8327644"/>
            </a:xfrm>
            <a:custGeom>
              <a:avLst/>
              <a:gdLst/>
              <a:ahLst/>
              <a:cxnLst/>
              <a:rect r="r" b="b" t="t" l="l"/>
              <a:pathLst>
                <a:path h="8327644" w="7229475">
                  <a:moveTo>
                    <a:pt x="0" y="1204976"/>
                  </a:moveTo>
                  <a:cubicBezTo>
                    <a:pt x="0" y="539496"/>
                    <a:pt x="539496" y="0"/>
                    <a:pt x="1204976" y="0"/>
                  </a:cubicBezTo>
                  <a:lnTo>
                    <a:pt x="6024499" y="0"/>
                  </a:lnTo>
                  <a:cubicBezTo>
                    <a:pt x="6689979" y="0"/>
                    <a:pt x="7229475" y="539496"/>
                    <a:pt x="7229475" y="1204976"/>
                  </a:cubicBezTo>
                  <a:lnTo>
                    <a:pt x="7229475" y="7122668"/>
                  </a:lnTo>
                  <a:cubicBezTo>
                    <a:pt x="7229475" y="7788149"/>
                    <a:pt x="6689979" y="8327644"/>
                    <a:pt x="6024499" y="8327644"/>
                  </a:cubicBezTo>
                  <a:lnTo>
                    <a:pt x="1204976" y="8327644"/>
                  </a:lnTo>
                  <a:cubicBezTo>
                    <a:pt x="539496" y="8327517"/>
                    <a:pt x="0" y="7788021"/>
                    <a:pt x="0" y="7122668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125239" y="2859700"/>
            <a:ext cx="4301109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REVENUE SUMMARY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3867" y="3898725"/>
            <a:ext cx="4163844" cy="278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5%</a:t>
            </a:r>
          </a:p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Commission rate</a:t>
            </a:r>
          </a:p>
          <a:p>
            <a:pPr algn="ctr">
              <a:lnSpc>
                <a:spcPts val="3963"/>
              </a:lnSpc>
            </a:pPr>
          </a:p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Product orders + rental bookings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RECORD RENTAL TERMS AND EQUIPMENT CONDITION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Rental Agreement &amp; Return Inspection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13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40" y="2598544"/>
            <a:ext cx="5166589" cy="5029324"/>
            <a:chOff x="0" y="0"/>
            <a:chExt cx="6888785" cy="67057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8735" cy="6705600"/>
            </a:xfrm>
            <a:custGeom>
              <a:avLst/>
              <a:gdLst/>
              <a:ahLst/>
              <a:cxnLst/>
              <a:rect r="r" b="b" t="t" l="l"/>
              <a:pathLst>
                <a:path h="6705600" w="6888735">
                  <a:moveTo>
                    <a:pt x="0" y="1117600"/>
                  </a:moveTo>
                  <a:cubicBezTo>
                    <a:pt x="0" y="500380"/>
                    <a:pt x="500380" y="0"/>
                    <a:pt x="1117600" y="0"/>
                  </a:cubicBezTo>
                  <a:lnTo>
                    <a:pt x="5771134" y="0"/>
                  </a:lnTo>
                  <a:cubicBezTo>
                    <a:pt x="6388354" y="0"/>
                    <a:pt x="6888735" y="500380"/>
                    <a:pt x="6888735" y="1117600"/>
                  </a:cubicBezTo>
                  <a:lnTo>
                    <a:pt x="6888735" y="5588000"/>
                  </a:lnTo>
                  <a:cubicBezTo>
                    <a:pt x="6888735" y="6205220"/>
                    <a:pt x="6388354" y="6705600"/>
                    <a:pt x="5771134" y="6705600"/>
                  </a:cubicBezTo>
                  <a:lnTo>
                    <a:pt x="1117600" y="6705600"/>
                  </a:lnTo>
                  <a:cubicBezTo>
                    <a:pt x="500380" y="6705600"/>
                    <a:pt x="0" y="6205220"/>
                    <a:pt x="0" y="55880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66774" y="2608078"/>
            <a:ext cx="109814" cy="5010255"/>
            <a:chOff x="0" y="0"/>
            <a:chExt cx="146418" cy="66803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6680327"/>
            </a:xfrm>
            <a:custGeom>
              <a:avLst/>
              <a:gdLst/>
              <a:ahLst/>
              <a:cxnLst/>
              <a:rect r="r" b="b" t="t" l="l"/>
              <a:pathLst>
                <a:path h="668032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680327"/>
                  </a:lnTo>
                  <a:lnTo>
                    <a:pt x="0" y="6680327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14475" y="2887151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8083" y="2900877"/>
            <a:ext cx="365595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Agreement acceptance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5661" y="3724485"/>
            <a:ext cx="4397197" cy="368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The customer accepts the rental agreement terms as part of submitting the booking request.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79299" y="2598544"/>
            <a:ext cx="5166589" cy="5029324"/>
            <a:chOff x="0" y="0"/>
            <a:chExt cx="6888785" cy="67057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8735" cy="6705600"/>
            </a:xfrm>
            <a:custGeom>
              <a:avLst/>
              <a:gdLst/>
              <a:ahLst/>
              <a:cxnLst/>
              <a:rect r="r" b="b" t="t" l="l"/>
              <a:pathLst>
                <a:path h="6705600" w="6888735">
                  <a:moveTo>
                    <a:pt x="0" y="1117600"/>
                  </a:moveTo>
                  <a:cubicBezTo>
                    <a:pt x="0" y="500380"/>
                    <a:pt x="500380" y="0"/>
                    <a:pt x="1117600" y="0"/>
                  </a:cubicBezTo>
                  <a:lnTo>
                    <a:pt x="5771134" y="0"/>
                  </a:lnTo>
                  <a:cubicBezTo>
                    <a:pt x="6388354" y="0"/>
                    <a:pt x="6888735" y="500380"/>
                    <a:pt x="6888735" y="1117600"/>
                  </a:cubicBezTo>
                  <a:lnTo>
                    <a:pt x="6888735" y="5588000"/>
                  </a:lnTo>
                  <a:cubicBezTo>
                    <a:pt x="6888735" y="6205220"/>
                    <a:pt x="6388354" y="6705600"/>
                    <a:pt x="5771134" y="6705600"/>
                  </a:cubicBezTo>
                  <a:lnTo>
                    <a:pt x="1117600" y="6705600"/>
                  </a:lnTo>
                  <a:cubicBezTo>
                    <a:pt x="500380" y="6705600"/>
                    <a:pt x="0" y="6205220"/>
                    <a:pt x="0" y="55880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88824" y="2608078"/>
            <a:ext cx="109814" cy="5010255"/>
            <a:chOff x="0" y="0"/>
            <a:chExt cx="146418" cy="66803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6680327"/>
            </a:xfrm>
            <a:custGeom>
              <a:avLst/>
              <a:gdLst/>
              <a:ahLst/>
              <a:cxnLst/>
              <a:rect r="r" b="b" t="t" l="l"/>
              <a:pathLst>
                <a:path h="668032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680327"/>
                  </a:lnTo>
                  <a:lnTo>
                    <a:pt x="0" y="6680327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36534" y="2887151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92BE43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60141" y="2900877"/>
            <a:ext cx="365595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Booking status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77720" y="3724485"/>
            <a:ext cx="4397197" cy="368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The request moves through Pending, Approved or Rejected based on the owner's decision.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01348" y="2598544"/>
            <a:ext cx="5166589" cy="5029324"/>
            <a:chOff x="0" y="0"/>
            <a:chExt cx="6888785" cy="67057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88735" cy="6705600"/>
            </a:xfrm>
            <a:custGeom>
              <a:avLst/>
              <a:gdLst/>
              <a:ahLst/>
              <a:cxnLst/>
              <a:rect r="r" b="b" t="t" l="l"/>
              <a:pathLst>
                <a:path h="6705600" w="6888735">
                  <a:moveTo>
                    <a:pt x="0" y="1117600"/>
                  </a:moveTo>
                  <a:cubicBezTo>
                    <a:pt x="0" y="500380"/>
                    <a:pt x="500380" y="0"/>
                    <a:pt x="1117600" y="0"/>
                  </a:cubicBezTo>
                  <a:lnTo>
                    <a:pt x="5771134" y="0"/>
                  </a:lnTo>
                  <a:cubicBezTo>
                    <a:pt x="6388354" y="0"/>
                    <a:pt x="6888735" y="500380"/>
                    <a:pt x="6888735" y="1117600"/>
                  </a:cubicBezTo>
                  <a:lnTo>
                    <a:pt x="6888735" y="5588000"/>
                  </a:lnTo>
                  <a:cubicBezTo>
                    <a:pt x="6888735" y="6205220"/>
                    <a:pt x="6388354" y="6705600"/>
                    <a:pt x="5771134" y="6705600"/>
                  </a:cubicBezTo>
                  <a:lnTo>
                    <a:pt x="1117600" y="6705600"/>
                  </a:lnTo>
                  <a:cubicBezTo>
                    <a:pt x="500380" y="6705600"/>
                    <a:pt x="0" y="6205220"/>
                    <a:pt x="0" y="5588000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0882" y="2608078"/>
            <a:ext cx="109814" cy="5010255"/>
            <a:chOff x="0" y="0"/>
            <a:chExt cx="146418" cy="66803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6680327"/>
            </a:xfrm>
            <a:custGeom>
              <a:avLst/>
              <a:gdLst/>
              <a:ahLst/>
              <a:cxnLst/>
              <a:rect r="r" b="b" t="t" l="l"/>
              <a:pathLst>
                <a:path h="668032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6680327"/>
                  </a:lnTo>
                  <a:lnTo>
                    <a:pt x="0" y="6680327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58592" y="2887151"/>
            <a:ext cx="66353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82190" y="2900877"/>
            <a:ext cx="3655952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Return inspection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99769" y="3724485"/>
            <a:ext cx="4397197" cy="368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The owner records return status, equipment condition, damage description and inspection charge.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8396" y="8213122"/>
            <a:ext cx="15282491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Booking and inspection details are stored in Cloud Firestore.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ANDROID APPLICATION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Tools &amp; Technologies Used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40" y="2324014"/>
            <a:ext cx="7843295" cy="1419187"/>
            <a:chOff x="0" y="0"/>
            <a:chExt cx="10457726" cy="1892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66774" y="2333539"/>
            <a:ext cx="109814" cy="1400127"/>
            <a:chOff x="0" y="0"/>
            <a:chExt cx="146418" cy="18668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55661" y="2626347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Java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5661" y="3449945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Main programming language for application logic.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99171" y="2324014"/>
            <a:ext cx="7843295" cy="1419187"/>
            <a:chOff x="0" y="0"/>
            <a:chExt cx="10457726" cy="1892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06" y="2333539"/>
            <a:ext cx="109814" cy="1400127"/>
            <a:chOff x="0" y="0"/>
            <a:chExt cx="146418" cy="18668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97592" y="2626347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XML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97592" y="3449945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Layouts, screens and interface components.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57240" y="4039848"/>
            <a:ext cx="7843295" cy="1419187"/>
            <a:chOff x="0" y="0"/>
            <a:chExt cx="10457726" cy="18922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66774" y="4049382"/>
            <a:ext cx="109814" cy="1400127"/>
            <a:chOff x="0" y="0"/>
            <a:chExt cx="146418" cy="18668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555661" y="4342181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Android SDK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5661" y="5165788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Android platform APIs and build tools.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99171" y="4039848"/>
            <a:ext cx="7843295" cy="1419187"/>
            <a:chOff x="0" y="0"/>
            <a:chExt cx="10457726" cy="18922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608706" y="4049382"/>
            <a:ext cx="109814" cy="1400127"/>
            <a:chOff x="0" y="0"/>
            <a:chExt cx="146418" cy="18668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DBAD46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997592" y="4342181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Firebase Authentication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97592" y="5165788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Email/password sign-in and account management.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57240" y="5755691"/>
            <a:ext cx="7843295" cy="1419187"/>
            <a:chOff x="0" y="0"/>
            <a:chExt cx="10457726" cy="189224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66774" y="5765225"/>
            <a:ext cx="109814" cy="1400127"/>
            <a:chOff x="0" y="0"/>
            <a:chExt cx="146418" cy="18668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555661" y="6058024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Cloud Firestore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55661" y="6881632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Cloud database for profiles, products, orders, equipment and bookings.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599171" y="5755691"/>
            <a:ext cx="7843295" cy="1419187"/>
            <a:chOff x="0" y="0"/>
            <a:chExt cx="10457726" cy="189224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608706" y="5765225"/>
            <a:ext cx="109814" cy="1400127"/>
            <a:chOff x="0" y="0"/>
            <a:chExt cx="146418" cy="18668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997592" y="6058024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Gradle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97592" y="6881632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Build automation and dependency management.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57240" y="7471534"/>
            <a:ext cx="7843295" cy="1419187"/>
            <a:chOff x="0" y="0"/>
            <a:chExt cx="10457726" cy="189224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66774" y="7481068"/>
            <a:ext cx="109814" cy="1400127"/>
            <a:chOff x="0" y="0"/>
            <a:chExt cx="146418" cy="18668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555661" y="7773867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ADB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55661" y="8597465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Install and debug the app on a connected Android device.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599171" y="7471534"/>
            <a:ext cx="7843295" cy="1419187"/>
            <a:chOff x="0" y="0"/>
            <a:chExt cx="10457726" cy="189224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57688" cy="1892173"/>
            </a:xfrm>
            <a:custGeom>
              <a:avLst/>
              <a:gdLst/>
              <a:ahLst/>
              <a:cxnLst/>
              <a:rect r="r" b="b" t="t" l="l"/>
              <a:pathLst>
                <a:path h="1892173" w="10457688">
                  <a:moveTo>
                    <a:pt x="0" y="315341"/>
                  </a:moveTo>
                  <a:cubicBezTo>
                    <a:pt x="0" y="141224"/>
                    <a:pt x="141224" y="0"/>
                    <a:pt x="315341" y="0"/>
                  </a:cubicBezTo>
                  <a:lnTo>
                    <a:pt x="10142347" y="0"/>
                  </a:lnTo>
                  <a:cubicBezTo>
                    <a:pt x="10316590" y="0"/>
                    <a:pt x="10457688" y="141224"/>
                    <a:pt x="10457688" y="315341"/>
                  </a:cubicBezTo>
                  <a:lnTo>
                    <a:pt x="10457688" y="1576832"/>
                  </a:lnTo>
                  <a:cubicBezTo>
                    <a:pt x="10457688" y="1751076"/>
                    <a:pt x="10316464" y="1892173"/>
                    <a:pt x="10142347" y="1892173"/>
                  </a:cubicBezTo>
                  <a:lnTo>
                    <a:pt x="315341" y="1892173"/>
                  </a:lnTo>
                  <a:cubicBezTo>
                    <a:pt x="141224" y="1892300"/>
                    <a:pt x="0" y="1751076"/>
                    <a:pt x="0" y="157683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608706" y="7481068"/>
            <a:ext cx="109814" cy="1400127"/>
            <a:chOff x="0" y="0"/>
            <a:chExt cx="146418" cy="18668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431" cy="1866773"/>
            </a:xfrm>
            <a:custGeom>
              <a:avLst/>
              <a:gdLst/>
              <a:ahLst/>
              <a:cxnLst/>
              <a:rect r="r" b="b" t="t" l="l"/>
              <a:pathLst>
                <a:path h="186677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DBAD46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997592" y="7773867"/>
            <a:ext cx="7115089" cy="4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Visual Studio Code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97592" y="8597465"/>
            <a:ext cx="7073913" cy="7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Source-code editing and project management.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18396" y="9517161"/>
            <a:ext cx="15419756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Platform: Android  |  Architecture: Activity-based app + repository classes + Firebase backend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FROM MOBILE UI TO CLOUD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System Architecture &amp; 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9010" y="2361000"/>
            <a:ext cx="14138529" cy="1125588"/>
            <a:chOff x="0" y="0"/>
            <a:chExt cx="18851372" cy="15007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51372" cy="1500886"/>
            </a:xfrm>
            <a:custGeom>
              <a:avLst/>
              <a:gdLst/>
              <a:ahLst/>
              <a:cxnLst/>
              <a:rect r="r" b="b" t="t" l="l"/>
              <a:pathLst>
                <a:path h="1500886" w="18851372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8601182" y="0"/>
                  </a:lnTo>
                  <a:cubicBezTo>
                    <a:pt x="18739358" y="0"/>
                    <a:pt x="18851372" y="112014"/>
                    <a:pt x="18851372" y="250190"/>
                  </a:cubicBezTo>
                  <a:lnTo>
                    <a:pt x="18851372" y="1250696"/>
                  </a:lnTo>
                  <a:cubicBezTo>
                    <a:pt x="18851372" y="1388872"/>
                    <a:pt x="18739358" y="1500886"/>
                    <a:pt x="18601182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16534" y="2571436"/>
            <a:ext cx="361477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ANDROID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60014" y="2571436"/>
            <a:ext cx="924273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Activities • XML layouts • Role-based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19024" y="3491132"/>
            <a:ext cx="73216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59010" y="3939569"/>
            <a:ext cx="14138529" cy="1125588"/>
            <a:chOff x="0" y="0"/>
            <a:chExt cx="18851372" cy="15007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51372" cy="1500886"/>
            </a:xfrm>
            <a:custGeom>
              <a:avLst/>
              <a:gdLst/>
              <a:ahLst/>
              <a:cxnLst/>
              <a:rect r="r" b="b" t="t" l="l"/>
              <a:pathLst>
                <a:path h="1500886" w="18851372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8601182" y="0"/>
                  </a:lnTo>
                  <a:cubicBezTo>
                    <a:pt x="18739358" y="0"/>
                    <a:pt x="18851372" y="112014"/>
                    <a:pt x="18851372" y="250190"/>
                  </a:cubicBezTo>
                  <a:lnTo>
                    <a:pt x="18851372" y="1250696"/>
                  </a:lnTo>
                  <a:cubicBezTo>
                    <a:pt x="18851372" y="1388872"/>
                    <a:pt x="18739358" y="1500886"/>
                    <a:pt x="18601182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E9F1D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516534" y="4150014"/>
            <a:ext cx="361477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APPLICATION LOGIC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60014" y="4150014"/>
            <a:ext cx="924273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Repositories • Product, equipment, booking and order workflows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19024" y="5069700"/>
            <a:ext cx="73216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059010" y="5518137"/>
            <a:ext cx="14138529" cy="1125588"/>
            <a:chOff x="0" y="0"/>
            <a:chExt cx="18851372" cy="15007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851372" cy="1500886"/>
            </a:xfrm>
            <a:custGeom>
              <a:avLst/>
              <a:gdLst/>
              <a:ahLst/>
              <a:cxnLst/>
              <a:rect r="r" b="b" t="t" l="l"/>
              <a:pathLst>
                <a:path h="1500886" w="18851372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8601182" y="0"/>
                  </a:lnTo>
                  <a:cubicBezTo>
                    <a:pt x="18739358" y="0"/>
                    <a:pt x="18851372" y="112014"/>
                    <a:pt x="18851372" y="250190"/>
                  </a:cubicBezTo>
                  <a:lnTo>
                    <a:pt x="18851372" y="1250696"/>
                  </a:lnTo>
                  <a:cubicBezTo>
                    <a:pt x="18851372" y="1388872"/>
                    <a:pt x="18739358" y="1500886"/>
                    <a:pt x="18601182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DDEBC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516534" y="5728583"/>
            <a:ext cx="361477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FIREBASE SERVICES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60014" y="5728583"/>
            <a:ext cx="924273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Firebase Authentication • Cloud Firestore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19024" y="6648279"/>
            <a:ext cx="732168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059010" y="7096716"/>
            <a:ext cx="14138529" cy="1125588"/>
            <a:chOff x="0" y="0"/>
            <a:chExt cx="18851372" cy="15007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851372" cy="1500886"/>
            </a:xfrm>
            <a:custGeom>
              <a:avLst/>
              <a:gdLst/>
              <a:ahLst/>
              <a:cxnLst/>
              <a:rect r="r" b="b" t="t" l="l"/>
              <a:pathLst>
                <a:path h="1500886" w="18851372">
                  <a:moveTo>
                    <a:pt x="0" y="250190"/>
                  </a:moveTo>
                  <a:cubicBezTo>
                    <a:pt x="0" y="112014"/>
                    <a:pt x="112014" y="0"/>
                    <a:pt x="250190" y="0"/>
                  </a:cubicBezTo>
                  <a:lnTo>
                    <a:pt x="18601182" y="0"/>
                  </a:lnTo>
                  <a:cubicBezTo>
                    <a:pt x="18739358" y="0"/>
                    <a:pt x="18851372" y="112014"/>
                    <a:pt x="18851372" y="250190"/>
                  </a:cubicBezTo>
                  <a:lnTo>
                    <a:pt x="18851372" y="1250696"/>
                  </a:lnTo>
                  <a:cubicBezTo>
                    <a:pt x="18851372" y="1388872"/>
                    <a:pt x="18739358" y="1500886"/>
                    <a:pt x="18601182" y="1500886"/>
                  </a:cubicBezTo>
                  <a:lnTo>
                    <a:pt x="250190" y="1500886"/>
                  </a:lnTo>
                  <a:cubicBezTo>
                    <a:pt x="112014" y="1500759"/>
                    <a:pt x="0" y="1388745"/>
                    <a:pt x="0" y="1250696"/>
                  </a:cubicBezTo>
                  <a:close/>
                </a:path>
              </a:pathLst>
            </a:custGeom>
            <a:solidFill>
              <a:srgbClr val="CFE2B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516534" y="7307161"/>
            <a:ext cx="361477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DATA COLLECTIONS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60014" y="7307161"/>
            <a:ext cx="9242736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userProfiles • products • equipment • orders • bookings • ownerApplications • admins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41994" y="8899455"/>
            <a:ext cx="1363528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Firestore security rules help restrict access based on sign-in identity and approved roles.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MAIN INTERACTIONS BY USER ROLE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Use Case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122" y="4154214"/>
            <a:ext cx="1693031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CUSTOMER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45112" y="2781538"/>
            <a:ext cx="1830305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OWNER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45112" y="7174087"/>
            <a:ext cx="1830305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ADMIN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559416" y="2255377"/>
            <a:ext cx="10725912" cy="6813794"/>
            <a:chOff x="0" y="0"/>
            <a:chExt cx="14301216" cy="9085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01215" cy="9085072"/>
            </a:xfrm>
            <a:custGeom>
              <a:avLst/>
              <a:gdLst/>
              <a:ahLst/>
              <a:cxnLst/>
              <a:rect r="r" b="b" t="t" l="l"/>
              <a:pathLst>
                <a:path h="9085072" w="14301215">
                  <a:moveTo>
                    <a:pt x="0" y="1514221"/>
                  </a:moveTo>
                  <a:cubicBezTo>
                    <a:pt x="0" y="677926"/>
                    <a:pt x="677926" y="0"/>
                    <a:pt x="1514221" y="0"/>
                  </a:cubicBezTo>
                  <a:lnTo>
                    <a:pt x="12786995" y="0"/>
                  </a:lnTo>
                  <a:cubicBezTo>
                    <a:pt x="13623289" y="0"/>
                    <a:pt x="14301215" y="677926"/>
                    <a:pt x="14301215" y="1514221"/>
                  </a:cubicBezTo>
                  <a:lnTo>
                    <a:pt x="14301215" y="7570851"/>
                  </a:lnTo>
                  <a:cubicBezTo>
                    <a:pt x="14301215" y="8407146"/>
                    <a:pt x="13623289" y="9085072"/>
                    <a:pt x="12786995" y="9085072"/>
                  </a:cubicBezTo>
                  <a:lnTo>
                    <a:pt x="1514221" y="9085072"/>
                  </a:lnTo>
                  <a:cubicBezTo>
                    <a:pt x="677926" y="9085072"/>
                    <a:pt x="0" y="8407146"/>
                    <a:pt x="0" y="757085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C3D2B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360014" y="2585161"/>
            <a:ext cx="512471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FARMHUB APPLICATION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118019" y="3431677"/>
            <a:ext cx="4118019" cy="754971"/>
            <a:chOff x="0" y="0"/>
            <a:chExt cx="5490693" cy="100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273553" y="3628396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Browse products &amp; equipment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647833" y="3431677"/>
            <a:ext cx="4118019" cy="754971"/>
            <a:chOff x="0" y="0"/>
            <a:chExt cx="5490693" cy="1006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803367" y="3628396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Cart &amp; place COD order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118019" y="4735716"/>
            <a:ext cx="4118019" cy="754971"/>
            <a:chOff x="0" y="0"/>
            <a:chExt cx="5490693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273553" y="4932436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Request equipment rental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647833" y="4735716"/>
            <a:ext cx="4118019" cy="754971"/>
            <a:chOff x="0" y="0"/>
            <a:chExt cx="5490693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803367" y="4932436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View orders &amp; bookings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118019" y="6039755"/>
            <a:ext cx="4118019" cy="754971"/>
            <a:chOff x="0" y="0"/>
            <a:chExt cx="5490693" cy="1006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273553" y="6236475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Manage listings &amp; products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647833" y="6039755"/>
            <a:ext cx="4118019" cy="754971"/>
            <a:chOff x="0" y="0"/>
            <a:chExt cx="5490693" cy="10066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803367" y="6236475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Approve / reject bookings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118019" y="7343794"/>
            <a:ext cx="4118019" cy="754971"/>
            <a:chOff x="0" y="0"/>
            <a:chExt cx="5490693" cy="10066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4273553" y="7540514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Review owner applications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647833" y="7343794"/>
            <a:ext cx="4118019" cy="754971"/>
            <a:chOff x="0" y="0"/>
            <a:chExt cx="5490693" cy="100662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90718" cy="1006602"/>
            </a:xfrm>
            <a:custGeom>
              <a:avLst/>
              <a:gdLst/>
              <a:ahLst/>
              <a:cxnLst/>
              <a:rect r="r" b="b" t="t" l="l"/>
              <a:pathLst>
                <a:path h="1006602" w="549071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322951" y="0"/>
                  </a:lnTo>
                  <a:cubicBezTo>
                    <a:pt x="5415661" y="0"/>
                    <a:pt x="5490718" y="75057"/>
                    <a:pt x="5490718" y="167767"/>
                  </a:cubicBezTo>
                  <a:lnTo>
                    <a:pt x="5490718" y="838835"/>
                  </a:lnTo>
                  <a:cubicBezTo>
                    <a:pt x="5490718" y="931545"/>
                    <a:pt x="5415661" y="1006602"/>
                    <a:pt x="5322951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803367" y="7540514"/>
            <a:ext cx="380695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View revenue summary</a:t>
            </a:r>
          </a:p>
        </p:txBody>
      </p:sp>
      <p:sp>
        <p:nvSpPr>
          <p:cNvPr name="AutoShape 39" id="39"/>
          <p:cNvSpPr/>
          <p:nvPr/>
        </p:nvSpPr>
        <p:spPr>
          <a:xfrm rot="-1784700">
            <a:off x="2923384" y="4147576"/>
            <a:ext cx="1291133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1939200">
            <a:off x="2905687" y="4799590"/>
            <a:ext cx="1326518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rot="-388020">
            <a:off x="2990345" y="4147576"/>
            <a:ext cx="5687025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429240">
            <a:off x="2986278" y="4799590"/>
            <a:ext cx="5695169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6973620">
            <a:off x="11786587" y="4902546"/>
            <a:ext cx="3468472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7818059">
            <a:off x="12335913" y="4250522"/>
            <a:ext cx="2369820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10631520">
            <a:off x="8220951" y="7613571"/>
            <a:ext cx="6069930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10141140">
            <a:off x="12740126" y="7613571"/>
            <a:ext cx="1561405" cy="0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1212494" y="9242622"/>
            <a:ext cx="15694295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>
                <a:solidFill>
                  <a:srgbClr val="5F6F62"/>
                </a:solidFill>
                <a:latin typeface="Aptos"/>
                <a:ea typeface="Aptos"/>
                <a:cs typeface="Aptos"/>
                <a:sym typeface="Aptos"/>
              </a:rPr>
              <a:t>Conceptual use-case overview based on the implemented customer, owner and admin workflows.</a:t>
            </a:r>
          </a:p>
        </p:txBody>
      </p:sp>
      <p:sp>
        <p:nvSpPr>
          <p:cNvPr name="AutoShape 48" id="48"/>
          <p:cNvSpPr/>
          <p:nvPr/>
        </p:nvSpPr>
        <p:spPr>
          <a:xfrm flipH="true">
            <a:off x="8035162" y="3504012"/>
            <a:ext cx="6404470" cy="2732463"/>
          </a:xfrm>
          <a:prstGeom prst="line">
            <a:avLst/>
          </a:prstGeom>
          <a:ln cap="rnd" w="9525">
            <a:solidFill>
              <a:srgbClr val="43823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BFAE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7955" y="526151"/>
            <a:ext cx="16106099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CURRENT IMPLEMENTATION AND NEXT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7955" y="937955"/>
            <a:ext cx="16380628" cy="75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Revenue Model &amp; Future Enhancements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33421" y="1839382"/>
            <a:ext cx="988324" cy="75495"/>
            <a:chOff x="0" y="0"/>
            <a:chExt cx="1317765" cy="100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711"/>
            </a:xfrm>
            <a:custGeom>
              <a:avLst/>
              <a:gdLst/>
              <a:ahLst/>
              <a:cxnLst/>
              <a:rect r="r" b="b" t="t" l="l"/>
              <a:pathLst>
                <a:path h="100711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92BE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860955" y="9809626"/>
            <a:ext cx="526266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17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88603" y="2392642"/>
            <a:ext cx="7637393" cy="6539255"/>
            <a:chOff x="0" y="0"/>
            <a:chExt cx="10183190" cy="87190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83241" cy="8719058"/>
            </a:xfrm>
            <a:custGeom>
              <a:avLst/>
              <a:gdLst/>
              <a:ahLst/>
              <a:cxnLst/>
              <a:rect r="r" b="b" t="t" l="l"/>
              <a:pathLst>
                <a:path h="8719058" w="10183241">
                  <a:moveTo>
                    <a:pt x="0" y="1453261"/>
                  </a:moveTo>
                  <a:cubicBezTo>
                    <a:pt x="0" y="650621"/>
                    <a:pt x="650621" y="0"/>
                    <a:pt x="1453261" y="0"/>
                  </a:cubicBezTo>
                  <a:lnTo>
                    <a:pt x="8729980" y="0"/>
                  </a:lnTo>
                  <a:cubicBezTo>
                    <a:pt x="9532620" y="0"/>
                    <a:pt x="10183241" y="650621"/>
                    <a:pt x="10183241" y="1453261"/>
                  </a:cubicBezTo>
                  <a:lnTo>
                    <a:pt x="10183241" y="7265797"/>
                  </a:lnTo>
                  <a:cubicBezTo>
                    <a:pt x="10183241" y="8068437"/>
                    <a:pt x="9532620" y="8719058"/>
                    <a:pt x="8729980" y="8719058"/>
                  </a:cubicBezTo>
                  <a:lnTo>
                    <a:pt x="1453261" y="8719058"/>
                  </a:lnTo>
                  <a:cubicBezTo>
                    <a:pt x="650621" y="8719058"/>
                    <a:pt x="0" y="8068437"/>
                    <a:pt x="0" y="726579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E0E7D7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624289" y="2859700"/>
            <a:ext cx="649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CURRENT REVENUE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1563" y="3820573"/>
            <a:ext cx="6222854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sz="5704" b="true">
                <a:solidFill>
                  <a:srgbClr val="438237"/>
                </a:solidFill>
                <a:latin typeface="Aptos Bold"/>
                <a:ea typeface="Aptos Bold"/>
                <a:cs typeface="Aptos Bold"/>
                <a:sym typeface="Aptos Bold"/>
              </a:rPr>
              <a:t>5%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1563" y="4918710"/>
            <a:ext cx="6222854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5F6F62"/>
                </a:solidFill>
                <a:latin typeface="Aptos Bold"/>
                <a:ea typeface="Aptos Bold"/>
                <a:cs typeface="Aptos Bold"/>
                <a:sym typeface="Aptos Bold"/>
              </a:rPr>
              <a:t>Calculated commission rate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47206" y="6053490"/>
            <a:ext cx="164725" cy="164725"/>
            <a:chOff x="0" y="0"/>
            <a:chExt cx="219634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22367" y="5948210"/>
            <a:ext cx="6030678" cy="50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Commission calculated on product orders.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47206" y="6854209"/>
            <a:ext cx="164725" cy="164725"/>
            <a:chOff x="0" y="0"/>
            <a:chExt cx="219634" cy="2196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22367" y="6748939"/>
            <a:ext cx="6030678" cy="50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Commission calculated on equipment rentals.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47206" y="7654938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022367" y="7549658"/>
            <a:ext cx="6030678" cy="50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Admin screen summarizes recorded commission.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2804" y="2402176"/>
            <a:ext cx="7618333" cy="6520196"/>
            <a:chOff x="0" y="0"/>
            <a:chExt cx="10157778" cy="86935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57714" cy="8693531"/>
            </a:xfrm>
            <a:custGeom>
              <a:avLst/>
              <a:gdLst/>
              <a:ahLst/>
              <a:cxnLst/>
              <a:rect r="r" b="b" t="t" l="l"/>
              <a:pathLst>
                <a:path h="8693531" w="10157714">
                  <a:moveTo>
                    <a:pt x="0" y="1448943"/>
                  </a:moveTo>
                  <a:cubicBezTo>
                    <a:pt x="0" y="648716"/>
                    <a:pt x="648716" y="0"/>
                    <a:pt x="1448943" y="0"/>
                  </a:cubicBezTo>
                  <a:lnTo>
                    <a:pt x="8708771" y="0"/>
                  </a:lnTo>
                  <a:cubicBezTo>
                    <a:pt x="9508998" y="0"/>
                    <a:pt x="10157714" y="648716"/>
                    <a:pt x="10157714" y="1448943"/>
                  </a:cubicBezTo>
                  <a:lnTo>
                    <a:pt x="10157714" y="7244588"/>
                  </a:lnTo>
                  <a:cubicBezTo>
                    <a:pt x="10157714" y="8044815"/>
                    <a:pt x="9508998" y="8693531"/>
                    <a:pt x="8708771" y="8693531"/>
                  </a:cubicBezTo>
                  <a:lnTo>
                    <a:pt x="1448943" y="8693531"/>
                  </a:lnTo>
                  <a:cubicBezTo>
                    <a:pt x="648716" y="8693531"/>
                    <a:pt x="0" y="8044815"/>
                    <a:pt x="0" y="7244588"/>
                  </a:cubicBezTo>
                  <a:close/>
                </a:path>
              </a:pathLst>
            </a:custGeom>
            <a:solidFill>
              <a:srgbClr val="E1EFC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8965" y="2859700"/>
            <a:ext cx="649738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1C4C2B"/>
                </a:solidFill>
                <a:latin typeface="Aptos Bold"/>
                <a:ea typeface="Aptos Bold"/>
                <a:cs typeface="Aptos Bold"/>
                <a:sym typeface="Aptos Bold"/>
              </a:rPr>
              <a:t>POSSIBLE FUTURE ENHANCEMENTS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51872" y="3994471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327034" y="3879675"/>
            <a:ext cx="6099315" cy="63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Integrate a secure online payment gateway.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51872" y="4914167"/>
            <a:ext cx="164725" cy="164725"/>
            <a:chOff x="0" y="0"/>
            <a:chExt cx="219634" cy="2196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327034" y="4799371"/>
            <a:ext cx="6099315" cy="63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Expand admin tools and operational reports.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51872" y="5833853"/>
            <a:ext cx="164725" cy="164725"/>
            <a:chOff x="0" y="0"/>
            <a:chExt cx="219634" cy="2196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327034" y="5719058"/>
            <a:ext cx="6099315" cy="63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Add order fulfilment and delivery tracking.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951872" y="6753549"/>
            <a:ext cx="164725" cy="164725"/>
            <a:chOff x="0" y="0"/>
            <a:chExt cx="219634" cy="2196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327034" y="6638754"/>
            <a:ext cx="6099315" cy="63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Introduce richer notifications and booking reminders.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951872" y="7673235"/>
            <a:ext cx="164725" cy="164725"/>
            <a:chOff x="0" y="0"/>
            <a:chExt cx="219634" cy="2196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327034" y="7558440"/>
            <a:ext cx="6099315" cy="63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253328"/>
                </a:solidFill>
                <a:latin typeface="Aptos"/>
                <a:ea typeface="Aptos"/>
                <a:cs typeface="Aptos"/>
                <a:sym typeface="Aptos"/>
              </a:rPr>
              <a:t>Add analytics for product and equipment usage.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C4C2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" y="1029500"/>
            <a:ext cx="2613439" cy="1537324"/>
            <a:chOff x="0" y="0"/>
            <a:chExt cx="3111386" cy="1830235"/>
          </a:xfrm>
        </p:grpSpPr>
        <p:sp>
          <p:nvSpPr>
            <p:cNvPr name="Freeform 5" id="5" descr="farmhub_logo.png"/>
            <p:cNvSpPr/>
            <p:nvPr/>
          </p:nvSpPr>
          <p:spPr>
            <a:xfrm flipH="false" flipV="false" rot="24000">
              <a:off x="-6351" y="-10838"/>
              <a:ext cx="3124074" cy="1851874"/>
            </a:xfrm>
            <a:custGeom>
              <a:avLst/>
              <a:gdLst/>
              <a:ahLst/>
              <a:cxnLst/>
              <a:rect r="r" b="b" t="t" l="l"/>
              <a:pathLst>
                <a:path h="1851874" w="3124074">
                  <a:moveTo>
                    <a:pt x="0" y="21721"/>
                  </a:moveTo>
                  <a:lnTo>
                    <a:pt x="3111298" y="0"/>
                  </a:lnTo>
                  <a:lnTo>
                    <a:pt x="3124075" y="1830152"/>
                  </a:lnTo>
                  <a:lnTo>
                    <a:pt x="12777" y="1851873"/>
                  </a:lnTo>
                  <a:lnTo>
                    <a:pt x="0" y="21721"/>
                  </a:lnTo>
                  <a:close/>
                </a:path>
              </a:pathLst>
            </a:custGeom>
            <a:blipFill>
              <a:blip r:embed="rId2"/>
              <a:stretch>
                <a:fillRect l="-1245" t="-18904" r="0" b="-5189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9759" y="3271504"/>
            <a:ext cx="9517266" cy="155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690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396" y="5055975"/>
            <a:ext cx="8830932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D2E8B9"/>
                </a:solidFill>
                <a:latin typeface="Aptos Bold"/>
                <a:ea typeface="Aptos Bold"/>
                <a:cs typeface="Aptos Bold"/>
                <a:sym typeface="Aptos Bold"/>
              </a:rPr>
              <a:t>Growing connections. Sharing resources.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81382" y="0"/>
            <a:ext cx="7316343" cy="10295039"/>
            <a:chOff x="0" y="0"/>
            <a:chExt cx="9755124" cy="13726719"/>
          </a:xfrm>
        </p:grpSpPr>
        <p:sp>
          <p:nvSpPr>
            <p:cNvPr name="Freeform 9" id="9" descr="paddy_seeds.jpg"/>
            <p:cNvSpPr/>
            <p:nvPr/>
          </p:nvSpPr>
          <p:spPr>
            <a:xfrm flipH="false" flipV="false" rot="0">
              <a:off x="0" y="0"/>
              <a:ext cx="975512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755124">
                  <a:moveTo>
                    <a:pt x="0" y="0"/>
                  </a:moveTo>
                  <a:lnTo>
                    <a:pt x="9755124" y="0"/>
                  </a:lnTo>
                  <a:lnTo>
                    <a:pt x="975512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357" t="0" r="-20357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81382" y="0"/>
            <a:ext cx="301990" cy="10295039"/>
            <a:chOff x="0" y="0"/>
            <a:chExt cx="402654" cy="137267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590" cy="13726669"/>
            </a:xfrm>
            <a:custGeom>
              <a:avLst/>
              <a:gdLst/>
              <a:ahLst/>
              <a:cxnLst/>
              <a:rect r="r" b="b" t="t" l="l"/>
              <a:pathLst>
                <a:path h="13726669" w="402590">
                  <a:moveTo>
                    <a:pt x="0" y="67056"/>
                  </a:moveTo>
                  <a:cubicBezTo>
                    <a:pt x="0" y="30099"/>
                    <a:pt x="30099" y="0"/>
                    <a:pt x="67056" y="0"/>
                  </a:cubicBezTo>
                  <a:lnTo>
                    <a:pt x="335534" y="0"/>
                  </a:lnTo>
                  <a:cubicBezTo>
                    <a:pt x="372618" y="0"/>
                    <a:pt x="402590" y="30099"/>
                    <a:pt x="402590" y="67056"/>
                  </a:cubicBezTo>
                  <a:lnTo>
                    <a:pt x="402590" y="13659613"/>
                  </a:lnTo>
                  <a:cubicBezTo>
                    <a:pt x="402590" y="13696697"/>
                    <a:pt x="372491" y="13726669"/>
                    <a:pt x="335534" y="13726669"/>
                  </a:cubicBezTo>
                  <a:lnTo>
                    <a:pt x="67056" y="13726669"/>
                  </a:lnTo>
                  <a:cubicBezTo>
                    <a:pt x="29972" y="13726669"/>
                    <a:pt x="0" y="13696570"/>
                    <a:pt x="0" y="13659613"/>
                  </a:cubicBezTo>
                  <a:close/>
                </a:path>
              </a:pathLst>
            </a:custGeom>
            <a:solidFill>
              <a:srgbClr val="438237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DAHZUH2wQsU</dc:identifier>
  <dcterms:modified xsi:type="dcterms:W3CDTF">2011-08-01T06:04:30Z</dcterms:modified>
  <cp:revision>1</cp:revision>
  <dc:title>presentation</dc:title>
</cp:coreProperties>
</file>